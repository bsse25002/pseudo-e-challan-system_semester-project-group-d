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8288000" cy="10287000"/>
  <p:notesSz cx="6858000" cy="9144000"/>
  <p:embeddedFontLst>
    <p:embeddedFont>
      <p:font typeface="Atkinson Hyperlegible" panose="020B0604020202020204" charset="0"/>
      <p:regular r:id="rId13"/>
    </p:embeddedFont>
    <p:embeddedFont>
      <p:font typeface="Atkinson Hyperlegible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CEE4"/>
    <a:srgbClr val="1CABB0"/>
    <a:srgbClr val="00143D"/>
    <a:srgbClr val="D7A33D"/>
    <a:srgbClr val="4D42A0"/>
    <a:srgbClr val="AA6FEB"/>
    <a:srgbClr val="1B2A4C"/>
    <a:srgbClr val="427EC6"/>
    <a:srgbClr val="884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07" autoAdjust="0"/>
    <p:restoredTop sz="94622" autoAdjust="0"/>
  </p:normalViewPr>
  <p:slideViewPr>
    <p:cSldViewPr>
      <p:cViewPr varScale="1">
        <p:scale>
          <a:sx n="35" d="100"/>
          <a:sy n="35" d="100"/>
        </p:scale>
        <p:origin x="365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2.svg"/><Relationship Id="rId10" Type="http://schemas.openxmlformats.org/officeDocument/2006/relationships/image" Target="../media/image27.sv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sv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33.sv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40.sv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45.sv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7" Type="http://schemas.microsoft.com/office/2007/relationships/hdphoto" Target="../media/hdphoto1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5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sv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sv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7059" y="-964224"/>
            <a:ext cx="11517624" cy="11438600"/>
            <a:chOff x="0" y="0"/>
            <a:chExt cx="6338242" cy="6294755"/>
          </a:xfrm>
        </p:grpSpPr>
        <p:sp>
          <p:nvSpPr>
            <p:cNvPr id="3" name="Freeform 3"/>
            <p:cNvSpPr/>
            <p:nvPr/>
          </p:nvSpPr>
          <p:spPr>
            <a:xfrm>
              <a:off x="1482" y="61"/>
              <a:ext cx="6336760" cy="6294694"/>
            </a:xfrm>
            <a:custGeom>
              <a:avLst/>
              <a:gdLst/>
              <a:ahLst/>
              <a:cxnLst/>
              <a:rect l="l" t="t" r="r" b="b"/>
              <a:pathLst>
                <a:path w="6336760" h="6294694">
                  <a:moveTo>
                    <a:pt x="6023128" y="655513"/>
                  </a:moveTo>
                  <a:cubicBezTo>
                    <a:pt x="6195647" y="689676"/>
                    <a:pt x="6336760" y="849061"/>
                    <a:pt x="6336760" y="1009716"/>
                  </a:cubicBezTo>
                  <a:lnTo>
                    <a:pt x="6336760" y="6002594"/>
                  </a:lnTo>
                  <a:cubicBezTo>
                    <a:pt x="6336760" y="6163249"/>
                    <a:pt x="6192297" y="6294694"/>
                    <a:pt x="6015731" y="6294694"/>
                  </a:cubicBezTo>
                  <a:lnTo>
                    <a:pt x="228264" y="6294694"/>
                  </a:lnTo>
                  <a:cubicBezTo>
                    <a:pt x="51697" y="6294694"/>
                    <a:pt x="-39709" y="6171123"/>
                    <a:pt x="16524" y="6020120"/>
                  </a:cubicBezTo>
                  <a:lnTo>
                    <a:pt x="2326123" y="219395"/>
                  </a:lnTo>
                  <a:cubicBezTo>
                    <a:pt x="2386281" y="68392"/>
                    <a:pt x="2576665" y="-27239"/>
                    <a:pt x="2749184" y="6924"/>
                  </a:cubicBezTo>
                  <a:lnTo>
                    <a:pt x="6023128" y="655513"/>
                  </a:lnTo>
                  <a:close/>
                </a:path>
              </a:pathLst>
            </a:custGeom>
            <a:blipFill>
              <a:blip r:embed="rId2"/>
              <a:stretch>
                <a:fillRect t="-334" b="-334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7315200" y="7200900"/>
            <a:ext cx="4198776" cy="4114800"/>
          </a:xfrm>
          <a:custGeom>
            <a:avLst/>
            <a:gdLst/>
            <a:ahLst/>
            <a:cxnLst/>
            <a:rect l="l" t="t" r="r" b="b"/>
            <a:pathLst>
              <a:path w="4198776" h="4114800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51946" y="-1233329"/>
            <a:ext cx="4084874" cy="4114800"/>
          </a:xfrm>
          <a:custGeom>
            <a:avLst/>
            <a:gdLst/>
            <a:ahLst/>
            <a:cxnLst/>
            <a:rect l="l" t="t" r="r" b="b"/>
            <a:pathLst>
              <a:path w="4084874" h="4114800">
                <a:moveTo>
                  <a:pt x="0" y="0"/>
                </a:moveTo>
                <a:lnTo>
                  <a:pt x="4084874" y="0"/>
                </a:lnTo>
                <a:lnTo>
                  <a:pt x="4084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197356">
            <a:off x="8716058" y="3202058"/>
            <a:ext cx="4455000" cy="4114800"/>
          </a:xfrm>
          <a:custGeom>
            <a:avLst/>
            <a:gdLst/>
            <a:ahLst/>
            <a:cxnLst/>
            <a:rect l="l" t="t" r="r" b="b"/>
            <a:pathLst>
              <a:path w="4455000" h="4114800">
                <a:moveTo>
                  <a:pt x="0" y="0"/>
                </a:moveTo>
                <a:lnTo>
                  <a:pt x="4455000" y="0"/>
                </a:lnTo>
                <a:lnTo>
                  <a:pt x="4455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28650" y="6690786"/>
            <a:ext cx="7951064" cy="1020228"/>
            <a:chOff x="0" y="0"/>
            <a:chExt cx="10601419" cy="1360304"/>
          </a:xfrm>
        </p:grpSpPr>
        <p:sp>
          <p:nvSpPr>
            <p:cNvPr id="8" name="Freeform 8"/>
            <p:cNvSpPr/>
            <p:nvPr/>
          </p:nvSpPr>
          <p:spPr>
            <a:xfrm>
              <a:off x="0" y="246582"/>
              <a:ext cx="1030225" cy="867140"/>
            </a:xfrm>
            <a:custGeom>
              <a:avLst/>
              <a:gdLst/>
              <a:ahLst/>
              <a:cxnLst/>
              <a:rect l="l" t="t" r="r" b="b"/>
              <a:pathLst>
                <a:path w="1030225" h="867140">
                  <a:moveTo>
                    <a:pt x="0" y="0"/>
                  </a:moveTo>
                  <a:lnTo>
                    <a:pt x="1030225" y="0"/>
                  </a:lnTo>
                  <a:lnTo>
                    <a:pt x="1030225" y="867140"/>
                  </a:lnTo>
                  <a:lnTo>
                    <a:pt x="0" y="867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1336844" y="-9525"/>
              <a:ext cx="9264575" cy="1369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69"/>
                </a:lnSpc>
              </a:pPr>
              <a:r>
                <a:rPr lang="en-US" sz="3335" b="1">
                  <a:solidFill>
                    <a:srgbClr val="FEFEFE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Using C++, OpenCV, JSON/Struct Databases, Dynamic Arrays &amp; GUI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72583" y="1419033"/>
            <a:ext cx="8186376" cy="4695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177"/>
              </a:lnSpc>
            </a:pPr>
            <a:r>
              <a:rPr lang="en-US" sz="7522" b="1" dirty="0">
                <a:solidFill>
                  <a:srgbClr val="76CEE4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Pseudo E-Challan Generation &amp; Traffic Violation Detection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612443" y="8843485"/>
            <a:ext cx="6021050" cy="41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3"/>
              </a:lnSpc>
            </a:pPr>
            <a:r>
              <a:rPr lang="en-US" sz="2587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Proposal by Group-D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92304" y="7838922"/>
            <a:ext cx="3975631" cy="4543578"/>
          </a:xfrm>
          <a:custGeom>
            <a:avLst/>
            <a:gdLst/>
            <a:ahLst/>
            <a:cxnLst/>
            <a:rect l="l" t="t" r="r" b="b"/>
            <a:pathLst>
              <a:path w="3975631" h="4543578">
                <a:moveTo>
                  <a:pt x="0" y="0"/>
                </a:moveTo>
                <a:lnTo>
                  <a:pt x="3975631" y="0"/>
                </a:lnTo>
                <a:lnTo>
                  <a:pt x="3975631" y="4543578"/>
                </a:lnTo>
                <a:lnTo>
                  <a:pt x="0" y="4543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748467" y="2169237"/>
            <a:ext cx="7539533" cy="8173972"/>
            <a:chOff x="0" y="0"/>
            <a:chExt cx="3072652" cy="3331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72651" cy="3331210"/>
            </a:xfrm>
            <a:custGeom>
              <a:avLst/>
              <a:gdLst/>
              <a:ahLst/>
              <a:cxnLst/>
              <a:rect l="l" t="t" r="r" b="b"/>
              <a:pathLst>
                <a:path w="3072651" h="3331210">
                  <a:moveTo>
                    <a:pt x="3072651" y="3331210"/>
                  </a:moveTo>
                  <a:lnTo>
                    <a:pt x="0" y="3331210"/>
                  </a:lnTo>
                  <a:cubicBezTo>
                    <a:pt x="0" y="1490980"/>
                    <a:pt x="1375255" y="0"/>
                    <a:pt x="3072651" y="0"/>
                  </a:cubicBezTo>
                  <a:lnTo>
                    <a:pt x="3072651" y="3331210"/>
                  </a:lnTo>
                  <a:close/>
                </a:path>
              </a:pathLst>
            </a:custGeom>
            <a:blipFill>
              <a:blip r:embed="rId3"/>
              <a:stretch>
                <a:fillRect l="-7595" r="-7595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1990813" y="-217734"/>
            <a:ext cx="7315200" cy="3458095"/>
          </a:xfrm>
          <a:custGeom>
            <a:avLst/>
            <a:gdLst/>
            <a:ahLst/>
            <a:cxnLst/>
            <a:rect l="l" t="t" r="r" b="b"/>
            <a:pathLst>
              <a:path w="7315200" h="3458095">
                <a:moveTo>
                  <a:pt x="0" y="0"/>
                </a:moveTo>
                <a:lnTo>
                  <a:pt x="7315200" y="0"/>
                </a:lnTo>
                <a:lnTo>
                  <a:pt x="7315200" y="3458095"/>
                </a:lnTo>
                <a:lnTo>
                  <a:pt x="0" y="34580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627568"/>
            <a:ext cx="6551075" cy="1979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999" b="1" dirty="0">
                <a:solidFill>
                  <a:srgbClr val="76CEE4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Group Members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7850" y="4508773"/>
            <a:ext cx="9998750" cy="3911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82"/>
              </a:lnSpc>
            </a:pPr>
            <a:r>
              <a:rPr lang="en-US" sz="4344" b="1" dirty="0">
                <a:solidFill>
                  <a:schemeClr val="bg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1.Muhammad      </a:t>
            </a:r>
            <a:r>
              <a:rPr lang="en-US" sz="4344" b="1" dirty="0" smtClean="0">
                <a:solidFill>
                  <a:schemeClr val="bg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			BSSE25002</a:t>
            </a:r>
            <a:endParaRPr lang="en-US" sz="4344" b="1" dirty="0">
              <a:solidFill>
                <a:schemeClr val="bg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l">
              <a:lnSpc>
                <a:spcPts val="6082"/>
              </a:lnSpc>
            </a:pPr>
            <a:r>
              <a:rPr lang="en-US" sz="4344" b="1" dirty="0">
                <a:solidFill>
                  <a:schemeClr val="bg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2.Minahil </a:t>
            </a:r>
            <a:r>
              <a:rPr lang="en-US" sz="4344" b="1" dirty="0" err="1">
                <a:solidFill>
                  <a:schemeClr val="bg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Hammad</a:t>
            </a:r>
            <a:r>
              <a:rPr lang="en-US" sz="4344" b="1" dirty="0">
                <a:solidFill>
                  <a:schemeClr val="bg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         </a:t>
            </a:r>
            <a:r>
              <a:rPr lang="en-US" sz="4344" b="1" dirty="0" smtClean="0">
                <a:solidFill>
                  <a:schemeClr val="bg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BSSE25045</a:t>
            </a:r>
            <a:endParaRPr lang="en-US" sz="4344" b="1" dirty="0">
              <a:solidFill>
                <a:schemeClr val="bg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l">
              <a:lnSpc>
                <a:spcPts val="6082"/>
              </a:lnSpc>
            </a:pPr>
            <a:r>
              <a:rPr lang="en-US" sz="4344" b="1" dirty="0">
                <a:solidFill>
                  <a:schemeClr val="bg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3.Syeda </a:t>
            </a:r>
            <a:r>
              <a:rPr lang="en-US" sz="4344" b="1" dirty="0" err="1">
                <a:solidFill>
                  <a:schemeClr val="bg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Eman</a:t>
            </a:r>
            <a:r>
              <a:rPr lang="en-US" sz="4344" b="1" dirty="0">
                <a:solidFill>
                  <a:schemeClr val="bg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Fatima      </a:t>
            </a:r>
            <a:r>
              <a:rPr lang="en-US" sz="4344" b="1" dirty="0" smtClean="0">
                <a:solidFill>
                  <a:schemeClr val="bg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BSSE25038</a:t>
            </a:r>
            <a:endParaRPr lang="en-US" sz="4344" b="1" dirty="0">
              <a:solidFill>
                <a:schemeClr val="bg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l">
              <a:lnSpc>
                <a:spcPts val="6082"/>
              </a:lnSpc>
            </a:pPr>
            <a:r>
              <a:rPr lang="en-US" sz="4344" b="1" dirty="0">
                <a:solidFill>
                  <a:schemeClr val="bg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4.Fatima Saeed   </a:t>
            </a:r>
            <a:r>
              <a:rPr lang="en-US" sz="4344" b="1" dirty="0" smtClean="0">
                <a:solidFill>
                  <a:schemeClr val="bg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			BSSE25013</a:t>
            </a:r>
            <a:endParaRPr lang="en-US" sz="4344" b="1" dirty="0">
              <a:solidFill>
                <a:schemeClr val="bg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l">
              <a:lnSpc>
                <a:spcPts val="6082"/>
              </a:lnSpc>
              <a:spcBef>
                <a:spcPct val="0"/>
              </a:spcBef>
            </a:pPr>
            <a:endParaRPr lang="en-US" sz="4344" b="1" dirty="0">
              <a:solidFill>
                <a:schemeClr val="bg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134225" cy="10287000"/>
            <a:chOff x="0" y="0"/>
            <a:chExt cx="187897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8973" cy="2709333"/>
            </a:xfrm>
            <a:custGeom>
              <a:avLst/>
              <a:gdLst/>
              <a:ahLst/>
              <a:cxnLst/>
              <a:rect l="l" t="t" r="r" b="b"/>
              <a:pathLst>
                <a:path w="1878973" h="2709333">
                  <a:moveTo>
                    <a:pt x="0" y="0"/>
                  </a:moveTo>
                  <a:lnTo>
                    <a:pt x="1878973" y="0"/>
                  </a:lnTo>
                  <a:lnTo>
                    <a:pt x="187897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E3C3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7897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298818" y="3510198"/>
            <a:ext cx="8848108" cy="193050"/>
          </a:xfrm>
          <a:custGeom>
            <a:avLst/>
            <a:gdLst/>
            <a:ahLst/>
            <a:cxnLst/>
            <a:rect l="l" t="t" r="r" b="b"/>
            <a:pathLst>
              <a:path w="8848108" h="193050">
                <a:moveTo>
                  <a:pt x="0" y="0"/>
                </a:moveTo>
                <a:lnTo>
                  <a:pt x="8848108" y="0"/>
                </a:lnTo>
                <a:lnTo>
                  <a:pt x="8848108" y="193049"/>
                </a:lnTo>
                <a:lnTo>
                  <a:pt x="0" y="193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298818" y="4998452"/>
            <a:ext cx="8848108" cy="193050"/>
          </a:xfrm>
          <a:custGeom>
            <a:avLst/>
            <a:gdLst/>
            <a:ahLst/>
            <a:cxnLst/>
            <a:rect l="l" t="t" r="r" b="b"/>
            <a:pathLst>
              <a:path w="8848108" h="193050">
                <a:moveTo>
                  <a:pt x="0" y="0"/>
                </a:moveTo>
                <a:lnTo>
                  <a:pt x="8848108" y="0"/>
                </a:lnTo>
                <a:lnTo>
                  <a:pt x="8848108" y="193049"/>
                </a:lnTo>
                <a:lnTo>
                  <a:pt x="0" y="193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8373734" y="6482441"/>
            <a:ext cx="8848108" cy="193050"/>
          </a:xfrm>
          <a:custGeom>
            <a:avLst/>
            <a:gdLst/>
            <a:ahLst/>
            <a:cxnLst/>
            <a:rect l="l" t="t" r="r" b="b"/>
            <a:pathLst>
              <a:path w="8848108" h="193050">
                <a:moveTo>
                  <a:pt x="0" y="0"/>
                </a:moveTo>
                <a:lnTo>
                  <a:pt x="8848108" y="0"/>
                </a:lnTo>
                <a:lnTo>
                  <a:pt x="8848108" y="193050"/>
                </a:lnTo>
                <a:lnTo>
                  <a:pt x="0" y="19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0" y="0"/>
            <a:ext cx="8040486" cy="10287000"/>
          </a:xfrm>
          <a:custGeom>
            <a:avLst/>
            <a:gdLst/>
            <a:ahLst/>
            <a:cxnLst/>
            <a:rect l="l" t="t" r="r" b="b"/>
            <a:pathLst>
              <a:path w="8040486" h="10287000">
                <a:moveTo>
                  <a:pt x="0" y="0"/>
                </a:moveTo>
                <a:lnTo>
                  <a:pt x="8040486" y="0"/>
                </a:lnTo>
                <a:lnTo>
                  <a:pt x="804048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459" r="-59043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7750615"/>
            <a:ext cx="8110532" cy="2536385"/>
          </a:xfrm>
          <a:custGeom>
            <a:avLst/>
            <a:gdLst/>
            <a:ahLst/>
            <a:cxnLst/>
            <a:rect l="l" t="t" r="r" b="b"/>
            <a:pathLst>
              <a:path w="8110532" h="2536385">
                <a:moveTo>
                  <a:pt x="0" y="0"/>
                </a:moveTo>
                <a:lnTo>
                  <a:pt x="8110532" y="0"/>
                </a:lnTo>
                <a:lnTo>
                  <a:pt x="8110532" y="2536385"/>
                </a:lnTo>
                <a:lnTo>
                  <a:pt x="0" y="25363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0" y="0"/>
            <a:ext cx="8110532" cy="2536385"/>
          </a:xfrm>
          <a:custGeom>
            <a:avLst/>
            <a:gdLst/>
            <a:ahLst/>
            <a:cxnLst/>
            <a:rect l="l" t="t" r="r" b="b"/>
            <a:pathLst>
              <a:path w="8110532" h="2536385">
                <a:moveTo>
                  <a:pt x="0" y="0"/>
                </a:moveTo>
                <a:lnTo>
                  <a:pt x="8110532" y="0"/>
                </a:lnTo>
                <a:lnTo>
                  <a:pt x="8110532" y="2536385"/>
                </a:lnTo>
                <a:lnTo>
                  <a:pt x="0" y="25363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298818" y="2462411"/>
            <a:ext cx="8923024" cy="9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37"/>
              </a:lnSpc>
            </a:pPr>
            <a:r>
              <a:rPr lang="en-US" sz="2691" b="1">
                <a:solidFill>
                  <a:srgbClr val="1B2A4C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Traffic violations often go unnoticed due to limited manual monitoring.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98818" y="3956227"/>
            <a:ext cx="8923024" cy="9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37"/>
              </a:lnSpc>
            </a:pPr>
            <a:r>
              <a:rPr lang="en-US" sz="2691" b="1">
                <a:solidFill>
                  <a:srgbClr val="1B2A4C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Existing challan systems rely heavily on manual entry and physical verification.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09966" y="5440217"/>
            <a:ext cx="8923024" cy="9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37"/>
              </a:lnSpc>
            </a:pPr>
            <a:r>
              <a:rPr lang="en-US" sz="2691" b="1">
                <a:solidFill>
                  <a:srgbClr val="1B2A4C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Lack of automated plate detection causes delays in issuing challans.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258947"/>
            <a:ext cx="5329295" cy="2393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49"/>
              </a:lnSpc>
            </a:pPr>
            <a:r>
              <a:rPr lang="en-US" sz="8499" b="1" dirty="0">
                <a:solidFill>
                  <a:srgbClr val="76CEE4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Problem Statement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36276" y="6673376"/>
            <a:ext cx="8923024" cy="148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37"/>
              </a:lnSpc>
            </a:pPr>
            <a:r>
              <a:rPr lang="en-US" sz="2691" b="1">
                <a:solidFill>
                  <a:srgbClr val="1B2A4C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There is a need for a lightweight, file-based prototype that simulates real-world traffic enforcement workflows.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4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282481">
            <a:off x="5450443" y="7142461"/>
            <a:ext cx="2296391" cy="2950970"/>
          </a:xfrm>
          <a:custGeom>
            <a:avLst/>
            <a:gdLst/>
            <a:ahLst/>
            <a:cxnLst/>
            <a:rect l="l" t="t" r="r" b="b"/>
            <a:pathLst>
              <a:path w="2296391" h="2950970">
                <a:moveTo>
                  <a:pt x="0" y="0"/>
                </a:moveTo>
                <a:lnTo>
                  <a:pt x="2296391" y="0"/>
                </a:lnTo>
                <a:lnTo>
                  <a:pt x="2296391" y="2950970"/>
                </a:lnTo>
                <a:lnTo>
                  <a:pt x="0" y="295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4422095" y="1745057"/>
            <a:ext cx="9717488" cy="7420627"/>
          </a:xfrm>
          <a:custGeom>
            <a:avLst/>
            <a:gdLst/>
            <a:ahLst/>
            <a:cxnLst/>
            <a:rect l="l" t="t" r="r" b="b"/>
            <a:pathLst>
              <a:path w="9717488" h="7420627">
                <a:moveTo>
                  <a:pt x="0" y="0"/>
                </a:moveTo>
                <a:lnTo>
                  <a:pt x="9717488" y="0"/>
                </a:lnTo>
                <a:lnTo>
                  <a:pt x="9717488" y="7420627"/>
                </a:lnTo>
                <a:lnTo>
                  <a:pt x="0" y="74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87173" y="1460565"/>
            <a:ext cx="7719579" cy="7719579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2540" cy="6351270"/>
            </a:xfrm>
            <a:custGeom>
              <a:avLst/>
              <a:gdLst/>
              <a:ahLst/>
              <a:cxnLst/>
              <a:rect l="l" t="t" r="r" b="b"/>
              <a:pathLst>
                <a:path w="6352540" h="6351270">
                  <a:moveTo>
                    <a:pt x="5472430" y="2223770"/>
                  </a:moveTo>
                  <a:cubicBezTo>
                    <a:pt x="5795010" y="1845310"/>
                    <a:pt x="5772150" y="1281430"/>
                    <a:pt x="5420360" y="929640"/>
                  </a:cubicBezTo>
                  <a:cubicBezTo>
                    <a:pt x="5068570" y="577850"/>
                    <a:pt x="4505960" y="554990"/>
                    <a:pt x="4126230" y="877570"/>
                  </a:cubicBezTo>
                  <a:cubicBezTo>
                    <a:pt x="4086860" y="382270"/>
                    <a:pt x="3672840" y="0"/>
                    <a:pt x="3175000" y="0"/>
                  </a:cubicBezTo>
                  <a:cubicBezTo>
                    <a:pt x="2677160" y="0"/>
                    <a:pt x="2263140" y="382270"/>
                    <a:pt x="2223770" y="878840"/>
                  </a:cubicBezTo>
                  <a:cubicBezTo>
                    <a:pt x="1845310" y="556260"/>
                    <a:pt x="1281430" y="579120"/>
                    <a:pt x="929640" y="930910"/>
                  </a:cubicBezTo>
                  <a:cubicBezTo>
                    <a:pt x="577850" y="1282700"/>
                    <a:pt x="554990" y="1845310"/>
                    <a:pt x="877570" y="2225040"/>
                  </a:cubicBezTo>
                  <a:cubicBezTo>
                    <a:pt x="382270" y="2263140"/>
                    <a:pt x="0" y="2677160"/>
                    <a:pt x="0" y="3175000"/>
                  </a:cubicBezTo>
                  <a:cubicBezTo>
                    <a:pt x="0" y="3672840"/>
                    <a:pt x="382270" y="4086860"/>
                    <a:pt x="878840" y="4126230"/>
                  </a:cubicBezTo>
                  <a:cubicBezTo>
                    <a:pt x="556260" y="4504690"/>
                    <a:pt x="579120" y="5068570"/>
                    <a:pt x="930910" y="5420360"/>
                  </a:cubicBezTo>
                  <a:cubicBezTo>
                    <a:pt x="1282700" y="5772150"/>
                    <a:pt x="1845310" y="5795010"/>
                    <a:pt x="2225040" y="5472430"/>
                  </a:cubicBezTo>
                  <a:cubicBezTo>
                    <a:pt x="2264410" y="5969000"/>
                    <a:pt x="2678430" y="6351270"/>
                    <a:pt x="3176270" y="6351270"/>
                  </a:cubicBezTo>
                  <a:cubicBezTo>
                    <a:pt x="3674110" y="6351270"/>
                    <a:pt x="4088130" y="5969000"/>
                    <a:pt x="4127500" y="5473700"/>
                  </a:cubicBezTo>
                  <a:cubicBezTo>
                    <a:pt x="4505960" y="5796280"/>
                    <a:pt x="5069840" y="5773420"/>
                    <a:pt x="5421630" y="5421630"/>
                  </a:cubicBezTo>
                  <a:cubicBezTo>
                    <a:pt x="5773420" y="5069840"/>
                    <a:pt x="5796280" y="4507230"/>
                    <a:pt x="5473700" y="4127500"/>
                  </a:cubicBezTo>
                  <a:cubicBezTo>
                    <a:pt x="5970270" y="4088130"/>
                    <a:pt x="6352540" y="3674110"/>
                    <a:pt x="6352540" y="3176270"/>
                  </a:cubicBezTo>
                  <a:cubicBezTo>
                    <a:pt x="6350000" y="2677160"/>
                    <a:pt x="5967730" y="2263140"/>
                    <a:pt x="5472430" y="2223770"/>
                  </a:cubicBezTo>
                  <a:close/>
                </a:path>
              </a:pathLst>
            </a:custGeom>
            <a:blipFill>
              <a:blip r:embed="rId6"/>
              <a:stretch>
                <a:fillRect t="-9" b="-9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2630115" y="648178"/>
            <a:ext cx="7315200" cy="1050729"/>
          </a:xfrm>
          <a:custGeom>
            <a:avLst/>
            <a:gdLst/>
            <a:ahLst/>
            <a:cxnLst/>
            <a:rect l="l" t="t" r="r" b="b"/>
            <a:pathLst>
              <a:path w="7315200" h="1050729">
                <a:moveTo>
                  <a:pt x="0" y="0"/>
                </a:moveTo>
                <a:lnTo>
                  <a:pt x="7315200" y="0"/>
                </a:lnTo>
                <a:lnTo>
                  <a:pt x="7315200" y="1050728"/>
                </a:lnTo>
                <a:lnTo>
                  <a:pt x="0" y="10507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684468" y="9235052"/>
            <a:ext cx="7315200" cy="1050729"/>
          </a:xfrm>
          <a:custGeom>
            <a:avLst/>
            <a:gdLst/>
            <a:ahLst/>
            <a:cxnLst/>
            <a:rect l="l" t="t" r="r" b="b"/>
            <a:pathLst>
              <a:path w="7315200" h="1050729">
                <a:moveTo>
                  <a:pt x="0" y="0"/>
                </a:moveTo>
                <a:lnTo>
                  <a:pt x="7315200" y="0"/>
                </a:lnTo>
                <a:lnTo>
                  <a:pt x="7315200" y="1050728"/>
                </a:lnTo>
                <a:lnTo>
                  <a:pt x="0" y="10507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363178" y="2422626"/>
            <a:ext cx="8848108" cy="193050"/>
          </a:xfrm>
          <a:custGeom>
            <a:avLst/>
            <a:gdLst/>
            <a:ahLst/>
            <a:cxnLst/>
            <a:rect l="l" t="t" r="r" b="b"/>
            <a:pathLst>
              <a:path w="8848108" h="193050">
                <a:moveTo>
                  <a:pt x="0" y="0"/>
                </a:moveTo>
                <a:lnTo>
                  <a:pt x="8848108" y="0"/>
                </a:lnTo>
                <a:lnTo>
                  <a:pt x="8848108" y="193050"/>
                </a:lnTo>
                <a:lnTo>
                  <a:pt x="0" y="1930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363178" y="3770808"/>
            <a:ext cx="8848108" cy="193050"/>
          </a:xfrm>
          <a:custGeom>
            <a:avLst/>
            <a:gdLst/>
            <a:ahLst/>
            <a:cxnLst/>
            <a:rect l="l" t="t" r="r" b="b"/>
            <a:pathLst>
              <a:path w="8848108" h="193050">
                <a:moveTo>
                  <a:pt x="0" y="0"/>
                </a:moveTo>
                <a:lnTo>
                  <a:pt x="8848108" y="0"/>
                </a:lnTo>
                <a:lnTo>
                  <a:pt x="8848108" y="193049"/>
                </a:lnTo>
                <a:lnTo>
                  <a:pt x="0" y="1930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363178" y="3935282"/>
            <a:ext cx="8923024" cy="148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37"/>
              </a:lnSpc>
            </a:pPr>
            <a:r>
              <a:rPr lang="en-US" sz="2691" b="1">
                <a:solidFill>
                  <a:srgbClr val="FCFCFC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Auto-generate challans and maintain them in file-based pseudo databases (JSON, structs, 2D dynamic arrays).</a:t>
            </a:r>
          </a:p>
        </p:txBody>
      </p:sp>
      <p:sp>
        <p:nvSpPr>
          <p:cNvPr id="11" name="Freeform 11"/>
          <p:cNvSpPr/>
          <p:nvPr/>
        </p:nvSpPr>
        <p:spPr>
          <a:xfrm>
            <a:off x="8438094" y="5344982"/>
            <a:ext cx="8848108" cy="193050"/>
          </a:xfrm>
          <a:custGeom>
            <a:avLst/>
            <a:gdLst/>
            <a:ahLst/>
            <a:cxnLst/>
            <a:rect l="l" t="t" r="r" b="b"/>
            <a:pathLst>
              <a:path w="8848108" h="193050">
                <a:moveTo>
                  <a:pt x="0" y="0"/>
                </a:moveTo>
                <a:lnTo>
                  <a:pt x="8848108" y="0"/>
                </a:lnTo>
                <a:lnTo>
                  <a:pt x="8848108" y="193050"/>
                </a:lnTo>
                <a:lnTo>
                  <a:pt x="0" y="1930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363178" y="6581667"/>
            <a:ext cx="8848108" cy="193050"/>
          </a:xfrm>
          <a:custGeom>
            <a:avLst/>
            <a:gdLst/>
            <a:ahLst/>
            <a:cxnLst/>
            <a:rect l="l" t="t" r="r" b="b"/>
            <a:pathLst>
              <a:path w="8848108" h="193050">
                <a:moveTo>
                  <a:pt x="0" y="0"/>
                </a:moveTo>
                <a:lnTo>
                  <a:pt x="8848108" y="0"/>
                </a:lnTo>
                <a:lnTo>
                  <a:pt x="8848108" y="193049"/>
                </a:lnTo>
                <a:lnTo>
                  <a:pt x="0" y="1930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325720" y="7932651"/>
            <a:ext cx="8848108" cy="193050"/>
          </a:xfrm>
          <a:custGeom>
            <a:avLst/>
            <a:gdLst/>
            <a:ahLst/>
            <a:cxnLst/>
            <a:rect l="l" t="t" r="r" b="b"/>
            <a:pathLst>
              <a:path w="8848108" h="193050">
                <a:moveTo>
                  <a:pt x="0" y="0"/>
                </a:moveTo>
                <a:lnTo>
                  <a:pt x="8848108" y="0"/>
                </a:lnTo>
                <a:lnTo>
                  <a:pt x="8848108" y="193049"/>
                </a:lnTo>
                <a:lnTo>
                  <a:pt x="0" y="1930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363178" y="1374840"/>
            <a:ext cx="8923024" cy="9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37"/>
              </a:lnSpc>
            </a:pPr>
            <a:r>
              <a:rPr lang="en-US" sz="2691" b="1">
                <a:solidFill>
                  <a:srgbClr val="FCFCFC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Build a fully automated, pseudo e-challan system using C++ and OpenCV.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63178" y="2727173"/>
            <a:ext cx="8923024" cy="9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37"/>
              </a:lnSpc>
            </a:pPr>
            <a:r>
              <a:rPr lang="en-US" sz="2691" b="1">
                <a:solidFill>
                  <a:srgbClr val="FCFCFC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Detect traffic violations through camera feeds and extract number plates.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00636" y="5538032"/>
            <a:ext cx="8923024" cy="9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37"/>
              </a:lnSpc>
            </a:pPr>
            <a:r>
              <a:rPr lang="en-US" sz="2691" b="1">
                <a:solidFill>
                  <a:srgbClr val="FCFCFC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Integrate a pseudo-bank for simulated payment management.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38094" y="6889016"/>
            <a:ext cx="8923024" cy="9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37"/>
              </a:lnSpc>
            </a:pPr>
            <a:r>
              <a:rPr lang="en-US" sz="2691" b="1">
                <a:solidFill>
                  <a:srgbClr val="FCFCFC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Provide a GUI interface for user interaction, challan viewing, and status updates.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25720" y="8240000"/>
            <a:ext cx="8923024" cy="9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37"/>
              </a:lnSpc>
            </a:pPr>
            <a:r>
              <a:rPr lang="en-US" sz="2691" b="1">
                <a:solidFill>
                  <a:srgbClr val="FCFCFC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Send email notifications to registered vehicle owners after challan generation.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42545" y="8059027"/>
            <a:ext cx="4167845" cy="4114800"/>
          </a:xfrm>
          <a:custGeom>
            <a:avLst/>
            <a:gdLst/>
            <a:ahLst/>
            <a:cxnLst/>
            <a:rect l="l" t="t" r="r" b="b"/>
            <a:pathLst>
              <a:path w="4167845" h="4114800">
                <a:moveTo>
                  <a:pt x="0" y="0"/>
                </a:moveTo>
                <a:lnTo>
                  <a:pt x="4167846" y="0"/>
                </a:lnTo>
                <a:lnTo>
                  <a:pt x="41678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32978" y="4987932"/>
            <a:ext cx="4211828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</a:pPr>
            <a:r>
              <a:rPr lang="en-US" sz="1899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Real-time or image-based vehicle detection using OpenCV.</a:t>
            </a:r>
          </a:p>
        </p:txBody>
      </p:sp>
      <p:sp>
        <p:nvSpPr>
          <p:cNvPr id="4" name="Freeform 4"/>
          <p:cNvSpPr/>
          <p:nvPr/>
        </p:nvSpPr>
        <p:spPr>
          <a:xfrm>
            <a:off x="-1928932" y="-1880689"/>
            <a:ext cx="4167845" cy="4114800"/>
          </a:xfrm>
          <a:custGeom>
            <a:avLst/>
            <a:gdLst/>
            <a:ahLst/>
            <a:cxnLst/>
            <a:rect l="l" t="t" r="r" b="b"/>
            <a:pathLst>
              <a:path w="4167845" h="4114800">
                <a:moveTo>
                  <a:pt x="0" y="0"/>
                </a:moveTo>
                <a:lnTo>
                  <a:pt x="4167845" y="0"/>
                </a:lnTo>
                <a:lnTo>
                  <a:pt x="4167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58072" y="-1801421"/>
            <a:ext cx="4167845" cy="4114800"/>
          </a:xfrm>
          <a:custGeom>
            <a:avLst/>
            <a:gdLst/>
            <a:ahLst/>
            <a:cxnLst/>
            <a:rect l="l" t="t" r="r" b="b"/>
            <a:pathLst>
              <a:path w="4167845" h="4114800">
                <a:moveTo>
                  <a:pt x="0" y="0"/>
                </a:moveTo>
                <a:lnTo>
                  <a:pt x="4167845" y="0"/>
                </a:lnTo>
                <a:lnTo>
                  <a:pt x="4167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561718" y="7858045"/>
            <a:ext cx="4167845" cy="4114800"/>
          </a:xfrm>
          <a:custGeom>
            <a:avLst/>
            <a:gdLst/>
            <a:ahLst/>
            <a:cxnLst/>
            <a:rect l="l" t="t" r="r" b="b"/>
            <a:pathLst>
              <a:path w="4167845" h="4114800">
                <a:moveTo>
                  <a:pt x="0" y="0"/>
                </a:moveTo>
                <a:lnTo>
                  <a:pt x="4167845" y="0"/>
                </a:lnTo>
                <a:lnTo>
                  <a:pt x="4167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44806" y="4987932"/>
            <a:ext cx="4211828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</a:pPr>
            <a:r>
              <a:rPr lang="en-US" sz="1899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Automatic number plate extraction using contouring &amp; segmentation.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54793" y="5023901"/>
            <a:ext cx="4211828" cy="103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</a:pPr>
            <a:r>
              <a:rPr lang="en-US" sz="1899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Violation detection engine (speeding, signal jump, lane crossing — rule-based).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43885" y="7364075"/>
            <a:ext cx="4211828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</a:pPr>
            <a:r>
              <a:rPr lang="en-US" sz="1899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Email notification module to alert owners with challan details.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65700" y="7364075"/>
            <a:ext cx="4211828" cy="103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</a:pPr>
            <a:r>
              <a:rPr lang="en-US" sz="1899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Pseudo-bank system that stores balances, processes payments, and updates records.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782755" y="4195491"/>
            <a:ext cx="6743" cy="1860920"/>
          </a:xfrm>
          <a:prstGeom prst="line">
            <a:avLst/>
          </a:prstGeom>
          <a:ln w="76200" cap="flat">
            <a:solidFill>
              <a:srgbClr val="AA6FE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9050437" y="4230726"/>
            <a:ext cx="6743" cy="1860920"/>
          </a:xfrm>
          <a:prstGeom prst="line">
            <a:avLst/>
          </a:prstGeom>
          <a:ln w="76200" cap="flat">
            <a:solidFill>
              <a:srgbClr val="AA6FE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3268589" y="4230865"/>
            <a:ext cx="6743" cy="1860920"/>
          </a:xfrm>
          <a:prstGeom prst="line">
            <a:avLst/>
          </a:prstGeom>
          <a:ln w="76200" cap="flat">
            <a:solidFill>
              <a:srgbClr val="AA6FE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4997206" y="6570900"/>
            <a:ext cx="6743" cy="1860920"/>
          </a:xfrm>
          <a:prstGeom prst="line">
            <a:avLst/>
          </a:prstGeom>
          <a:ln w="76200" cap="flat">
            <a:solidFill>
              <a:srgbClr val="AA6FE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8918438" y="6606869"/>
            <a:ext cx="6743" cy="1860920"/>
          </a:xfrm>
          <a:prstGeom prst="line">
            <a:avLst/>
          </a:prstGeom>
          <a:ln w="76200" cap="flat">
            <a:solidFill>
              <a:srgbClr val="AA6FE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3390258" y="6607007"/>
            <a:ext cx="6743" cy="1860920"/>
          </a:xfrm>
          <a:prstGeom prst="line">
            <a:avLst/>
          </a:prstGeom>
          <a:ln w="76200" cap="flat">
            <a:solidFill>
              <a:srgbClr val="AA6FE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2095604" y="4166044"/>
            <a:ext cx="1286577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</a:pPr>
            <a:r>
              <a:rPr lang="en-US" sz="240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Feature 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90585" y="2524555"/>
            <a:ext cx="14106830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Main Features to Include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13498" y="4166044"/>
            <a:ext cx="1274445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</a:pPr>
            <a:r>
              <a:rPr lang="en-US" sz="240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Feature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19674" y="4202013"/>
            <a:ext cx="1282065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</a:pPr>
            <a:r>
              <a:rPr lang="en-US" sz="240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Feature 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352158" y="4987932"/>
            <a:ext cx="4211828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</a:pPr>
            <a:r>
              <a:rPr lang="en-US" sz="1899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E-Challan auto-generation with time, location, image proof &amp; violation type.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725430" y="4166044"/>
            <a:ext cx="1294209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</a:pPr>
            <a:r>
              <a:rPr lang="en-US" sz="240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Feature 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2057" y="7364075"/>
            <a:ext cx="4211828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</a:pPr>
            <a:r>
              <a:rPr lang="en-US" sz="1899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Pseudo-databases implemented using JSON, structs, and dynamic 2D arrays.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94683" y="6542187"/>
            <a:ext cx="1286577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</a:pPr>
            <a:r>
              <a:rPr lang="en-US" sz="240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Feature 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05135" y="6542187"/>
            <a:ext cx="1289328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</a:pPr>
            <a:r>
              <a:rPr lang="en-US" sz="240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Feature 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53872" y="7400044"/>
            <a:ext cx="4211828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</a:pPr>
            <a:r>
              <a:rPr lang="en-US" sz="1899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GUI dashboard for registration, challan info, payment, and user management.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28516" y="6578156"/>
            <a:ext cx="1262539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</a:pPr>
            <a:r>
              <a:rPr lang="en-US" sz="240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Feature 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724330" y="6542187"/>
            <a:ext cx="1294567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</a:pPr>
            <a:r>
              <a:rPr lang="en-US" sz="240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Feature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36882" y="5152022"/>
            <a:ext cx="4415506" cy="449579"/>
          </a:xfrm>
          <a:custGeom>
            <a:avLst/>
            <a:gdLst/>
            <a:ahLst/>
            <a:cxnLst/>
            <a:rect l="l" t="t" r="r" b="b"/>
            <a:pathLst>
              <a:path w="4415506" h="449579">
                <a:moveTo>
                  <a:pt x="0" y="0"/>
                </a:moveTo>
                <a:lnTo>
                  <a:pt x="4415506" y="0"/>
                </a:lnTo>
                <a:lnTo>
                  <a:pt x="4415506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1202" y="63341"/>
            <a:ext cx="4224148" cy="4114800"/>
          </a:xfrm>
          <a:custGeom>
            <a:avLst/>
            <a:gdLst/>
            <a:ahLst/>
            <a:cxnLst/>
            <a:rect l="l" t="t" r="r" b="b"/>
            <a:pathLst>
              <a:path w="4224148" h="4114800">
                <a:moveTo>
                  <a:pt x="0" y="0"/>
                </a:moveTo>
                <a:lnTo>
                  <a:pt x="4224148" y="0"/>
                </a:lnTo>
                <a:lnTo>
                  <a:pt x="42241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28141" y="1365259"/>
            <a:ext cx="9326880" cy="3778241"/>
            <a:chOff x="0" y="0"/>
            <a:chExt cx="13938250" cy="56462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938250" cy="5646269"/>
            </a:xfrm>
            <a:custGeom>
              <a:avLst/>
              <a:gdLst/>
              <a:ahLst/>
              <a:cxnLst/>
              <a:rect l="l" t="t" r="r" b="b"/>
              <a:pathLst>
                <a:path w="13938250" h="5646269">
                  <a:moveTo>
                    <a:pt x="12528550" y="5646269"/>
                  </a:moveTo>
                  <a:lnTo>
                    <a:pt x="1410970" y="5646269"/>
                  </a:lnTo>
                  <a:cubicBezTo>
                    <a:pt x="631190" y="5646269"/>
                    <a:pt x="0" y="5085030"/>
                    <a:pt x="0" y="4391668"/>
                  </a:cubicBezTo>
                  <a:lnTo>
                    <a:pt x="0" y="4353273"/>
                  </a:lnTo>
                  <a:cubicBezTo>
                    <a:pt x="0" y="1811323"/>
                    <a:pt x="2317750" y="0"/>
                    <a:pt x="5175250" y="0"/>
                  </a:cubicBezTo>
                  <a:lnTo>
                    <a:pt x="8763000" y="0"/>
                  </a:lnTo>
                  <a:cubicBezTo>
                    <a:pt x="11621770" y="0"/>
                    <a:pt x="13938250" y="1811323"/>
                    <a:pt x="13938250" y="4353273"/>
                  </a:cubicBezTo>
                  <a:lnTo>
                    <a:pt x="13938250" y="4391668"/>
                  </a:lnTo>
                  <a:cubicBezTo>
                    <a:pt x="13938250" y="5085030"/>
                    <a:pt x="13307061" y="5646269"/>
                    <a:pt x="12528550" y="5646269"/>
                  </a:cubicBezTo>
                  <a:close/>
                </a:path>
              </a:pathLst>
            </a:custGeom>
            <a:blipFill>
              <a:blip r:embed="rId6"/>
              <a:stretch>
                <a:fillRect t="-25493" b="-25493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8357369" y="1314555"/>
            <a:ext cx="1768279" cy="1758634"/>
          </a:xfrm>
          <a:custGeom>
            <a:avLst/>
            <a:gdLst/>
            <a:ahLst/>
            <a:cxnLst/>
            <a:rect l="l" t="t" r="r" b="b"/>
            <a:pathLst>
              <a:path w="1768279" h="1758634">
                <a:moveTo>
                  <a:pt x="0" y="0"/>
                </a:moveTo>
                <a:lnTo>
                  <a:pt x="1768279" y="0"/>
                </a:lnTo>
                <a:lnTo>
                  <a:pt x="1768279" y="1758634"/>
                </a:lnTo>
                <a:lnTo>
                  <a:pt x="0" y="17586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970676" y="1753208"/>
            <a:ext cx="6105997" cy="314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Live camera feed or uploaded image.</a:t>
            </a:r>
          </a:p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Vehicle number plate text detected via OpenCV.</a:t>
            </a:r>
          </a:p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User inputs for payments, registration updates, and new entries.</a:t>
            </a:r>
          </a:p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Administrator controls for adding violations or updating databases.</a:t>
            </a:r>
          </a:p>
          <a:p>
            <a:pPr algn="l">
              <a:lnSpc>
                <a:spcPts val="3156"/>
              </a:lnSpc>
            </a:pPr>
            <a:endParaRPr lang="en-US" sz="2254">
              <a:solidFill>
                <a:srgbClr val="FEFEF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2494961" y="5376811"/>
            <a:ext cx="5057427" cy="0"/>
          </a:xfrm>
          <a:prstGeom prst="line">
            <a:avLst/>
          </a:prstGeom>
          <a:ln w="85725" cap="flat">
            <a:solidFill>
              <a:srgbClr val="D7A3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028700" y="5814659"/>
            <a:ext cx="10327146" cy="92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20"/>
              </a:lnSpc>
            </a:pPr>
            <a:r>
              <a:rPr lang="en-US" sz="6472" b="1" dirty="0">
                <a:solidFill>
                  <a:srgbClr val="76CEE4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Arguments of the 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097015"/>
            <a:ext cx="9522702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0"/>
              </a:lnSpc>
            </a:pPr>
            <a:r>
              <a:rPr lang="en-US" sz="3500">
                <a:solidFill>
                  <a:srgbClr val="F9F5F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Overview of the project dynamics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70676" y="1012827"/>
            <a:ext cx="4285372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</a:pPr>
            <a:r>
              <a:rPr lang="en-US" sz="3999" b="1">
                <a:solidFill>
                  <a:srgbClr val="D7A33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Inputs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70676" y="5676373"/>
            <a:ext cx="3971603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</a:pPr>
            <a:r>
              <a:rPr lang="en-US" sz="3999" b="1">
                <a:solidFill>
                  <a:srgbClr val="D7A33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Outputs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70676" y="6419323"/>
            <a:ext cx="5734079" cy="353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1"/>
              </a:lnSpc>
            </a:pPr>
            <a:r>
              <a:rPr lang="en-US" sz="2251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Generated challan file in JSON/text format.</a:t>
            </a:r>
          </a:p>
          <a:p>
            <a:pPr algn="l">
              <a:lnSpc>
                <a:spcPts val="3151"/>
              </a:lnSpc>
            </a:pPr>
            <a:r>
              <a:rPr lang="en-US" sz="2251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Updated registration, bank, and challan database files.</a:t>
            </a:r>
          </a:p>
          <a:p>
            <a:pPr algn="l">
              <a:lnSpc>
                <a:spcPts val="3151"/>
              </a:lnSpc>
            </a:pPr>
            <a:r>
              <a:rPr lang="en-US" sz="2251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Email sent to the vehicle owner with challan details.</a:t>
            </a:r>
          </a:p>
          <a:p>
            <a:pPr algn="l">
              <a:lnSpc>
                <a:spcPts val="3151"/>
              </a:lnSpc>
            </a:pPr>
            <a:r>
              <a:rPr lang="en-US" sz="2251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GUI-generated visual display of challans, balances, and violation data.</a:t>
            </a:r>
          </a:p>
          <a:p>
            <a:pPr algn="l">
              <a:lnSpc>
                <a:spcPts val="3151"/>
              </a:lnSpc>
            </a:pPr>
            <a:r>
              <a:rPr lang="en-US" sz="2251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Status updates (PAID/UNPAID) after performing payment operations.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79668" y="2345269"/>
            <a:ext cx="2267886" cy="2659568"/>
          </a:xfrm>
          <a:custGeom>
            <a:avLst/>
            <a:gdLst/>
            <a:ahLst/>
            <a:cxnLst/>
            <a:rect l="l" t="t" r="r" b="b"/>
            <a:pathLst>
              <a:path w="2267886" h="2659568">
                <a:moveTo>
                  <a:pt x="0" y="0"/>
                </a:moveTo>
                <a:lnTo>
                  <a:pt x="2267887" y="0"/>
                </a:lnTo>
                <a:lnTo>
                  <a:pt x="2267887" y="2659568"/>
                </a:lnTo>
                <a:lnTo>
                  <a:pt x="0" y="2659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816679" y="2519330"/>
            <a:ext cx="3208987" cy="2485506"/>
          </a:xfrm>
          <a:custGeom>
            <a:avLst/>
            <a:gdLst/>
            <a:ahLst/>
            <a:cxnLst/>
            <a:rect l="l" t="t" r="r" b="b"/>
            <a:pathLst>
              <a:path w="3208987" h="2485506">
                <a:moveTo>
                  <a:pt x="0" y="0"/>
                </a:moveTo>
                <a:lnTo>
                  <a:pt x="3208986" y="0"/>
                </a:lnTo>
                <a:lnTo>
                  <a:pt x="3208986" y="2485507"/>
                </a:lnTo>
                <a:lnTo>
                  <a:pt x="0" y="24855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633665" y="2580534"/>
            <a:ext cx="3343866" cy="2424303"/>
          </a:xfrm>
          <a:custGeom>
            <a:avLst/>
            <a:gdLst/>
            <a:ahLst/>
            <a:cxnLst/>
            <a:rect l="l" t="t" r="r" b="b"/>
            <a:pathLst>
              <a:path w="3343866" h="2424303">
                <a:moveTo>
                  <a:pt x="0" y="0"/>
                </a:moveTo>
                <a:lnTo>
                  <a:pt x="3343866" y="0"/>
                </a:lnTo>
                <a:lnTo>
                  <a:pt x="3343866" y="2424303"/>
                </a:lnTo>
                <a:lnTo>
                  <a:pt x="0" y="24243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076376" y="1114425"/>
            <a:ext cx="12135248" cy="100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4"/>
              </a:lnSpc>
            </a:pPr>
            <a:r>
              <a:rPr lang="en-US" sz="7200" b="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Pseudo Databases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777518" y="5133975"/>
            <a:ext cx="505616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2"/>
              </a:lnSpc>
              <a:spcBef>
                <a:spcPct val="0"/>
              </a:spcBef>
            </a:pPr>
            <a:r>
              <a:rPr lang="en-US" sz="2835" b="1">
                <a:solidFill>
                  <a:schemeClr val="tx2">
                    <a:lumMod val="60000"/>
                    <a:lumOff val="40000"/>
                  </a:schemeClr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3. Challan Database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95583" y="6121467"/>
            <a:ext cx="5238095" cy="3744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6"/>
              </a:lnSpc>
            </a:pPr>
            <a:r>
              <a:rPr lang="en-US" sz="2390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JSON-based challan entries with:</a:t>
            </a:r>
          </a:p>
          <a:p>
            <a:pPr algn="ctr">
              <a:lnSpc>
                <a:spcPts val="3346"/>
              </a:lnSpc>
            </a:pPr>
            <a:r>
              <a:rPr lang="en-US" sz="2390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Challan ID</a:t>
            </a:r>
          </a:p>
          <a:p>
            <a:pPr algn="ctr">
              <a:lnSpc>
                <a:spcPts val="3346"/>
              </a:lnSpc>
            </a:pPr>
            <a:r>
              <a:rPr lang="en-US" sz="2390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Number plate</a:t>
            </a:r>
          </a:p>
          <a:p>
            <a:pPr algn="ctr">
              <a:lnSpc>
                <a:spcPts val="3346"/>
              </a:lnSpc>
            </a:pPr>
            <a:r>
              <a:rPr lang="en-US" sz="2390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Violation type</a:t>
            </a:r>
          </a:p>
          <a:p>
            <a:pPr algn="ctr">
              <a:lnSpc>
                <a:spcPts val="3346"/>
              </a:lnSpc>
            </a:pPr>
            <a:r>
              <a:rPr lang="en-US" sz="2390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Date &amp; time</a:t>
            </a:r>
          </a:p>
          <a:p>
            <a:pPr algn="ctr">
              <a:lnSpc>
                <a:spcPts val="3346"/>
              </a:lnSpc>
            </a:pPr>
            <a:r>
              <a:rPr lang="en-US" sz="2390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Fine amount</a:t>
            </a:r>
          </a:p>
          <a:p>
            <a:pPr algn="ctr">
              <a:lnSpc>
                <a:spcPts val="3346"/>
              </a:lnSpc>
            </a:pPr>
            <a:r>
              <a:rPr lang="en-US" sz="2390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Payment status</a:t>
            </a:r>
          </a:p>
          <a:p>
            <a:pPr marL="0" lvl="0" indent="0" algn="ctr">
              <a:lnSpc>
                <a:spcPts val="3346"/>
              </a:lnSpc>
              <a:spcBef>
                <a:spcPct val="0"/>
              </a:spcBef>
            </a:pPr>
            <a:r>
              <a:rPr lang="en-US" sz="2390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Supports: update status, append new challans, display history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09525" y="5173707"/>
            <a:ext cx="371166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2"/>
              </a:lnSpc>
              <a:spcBef>
                <a:spcPct val="0"/>
              </a:spcBef>
            </a:pPr>
            <a:r>
              <a:rPr lang="en-US" sz="2835" b="1">
                <a:solidFill>
                  <a:schemeClr val="tx2">
                    <a:lumMod val="60000"/>
                    <a:lumOff val="40000"/>
                  </a:schemeClr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2. Bank Database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98981" y="6157362"/>
            <a:ext cx="4347777" cy="3455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7"/>
              </a:lnSpc>
            </a:pPr>
            <a:r>
              <a:rPr lang="en-US" sz="2491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Uses dynamic 2D arrays to store:</a:t>
            </a:r>
          </a:p>
          <a:p>
            <a:pPr algn="ctr">
              <a:lnSpc>
                <a:spcPts val="3487"/>
              </a:lnSpc>
            </a:pPr>
            <a:r>
              <a:rPr lang="en-US" sz="2491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Account ID</a:t>
            </a:r>
          </a:p>
          <a:p>
            <a:pPr algn="ctr">
              <a:lnSpc>
                <a:spcPts val="3487"/>
              </a:lnSpc>
            </a:pPr>
            <a:r>
              <a:rPr lang="en-US" sz="2491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Current balance</a:t>
            </a:r>
          </a:p>
          <a:p>
            <a:pPr algn="ctr">
              <a:lnSpc>
                <a:spcPts val="3487"/>
              </a:lnSpc>
            </a:pPr>
            <a:r>
              <a:rPr lang="en-US" sz="2491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Transaction history</a:t>
            </a:r>
          </a:p>
          <a:p>
            <a:pPr marL="0" lvl="0" indent="0" algn="ctr">
              <a:lnSpc>
                <a:spcPts val="3487"/>
              </a:lnSpc>
              <a:spcBef>
                <a:spcPct val="0"/>
              </a:spcBef>
            </a:pPr>
            <a:r>
              <a:rPr lang="en-US" sz="2491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Handles: recharge, deduction for challans, balance validation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7165" y="5185812"/>
            <a:ext cx="371166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2"/>
              </a:lnSpc>
              <a:spcBef>
                <a:spcPct val="0"/>
              </a:spcBef>
            </a:pPr>
            <a:r>
              <a:rPr lang="en-US" sz="2835" b="1" dirty="0">
                <a:solidFill>
                  <a:schemeClr val="tx2">
                    <a:lumMod val="60000"/>
                    <a:lumOff val="40000"/>
                  </a:schemeClr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1. Registration Database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5995" y="6204987"/>
            <a:ext cx="4319700" cy="3661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9"/>
              </a:lnSpc>
            </a:pPr>
            <a:r>
              <a:rPr lang="en-US" sz="2342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JSON + Structs containing:</a:t>
            </a:r>
          </a:p>
          <a:p>
            <a:pPr algn="ctr">
              <a:lnSpc>
                <a:spcPts val="3279"/>
              </a:lnSpc>
            </a:pPr>
            <a:r>
              <a:rPr lang="en-US" sz="2342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Vehicle number plate</a:t>
            </a:r>
          </a:p>
          <a:p>
            <a:pPr algn="ctr">
              <a:lnSpc>
                <a:spcPts val="3279"/>
              </a:lnSpc>
            </a:pPr>
            <a:r>
              <a:rPr lang="en-US" sz="2342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Owner name</a:t>
            </a:r>
          </a:p>
          <a:p>
            <a:pPr algn="ctr">
              <a:lnSpc>
                <a:spcPts val="3279"/>
              </a:lnSpc>
            </a:pPr>
            <a:r>
              <a:rPr lang="en-US" sz="2342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Email address</a:t>
            </a:r>
          </a:p>
          <a:p>
            <a:pPr algn="ctr">
              <a:lnSpc>
                <a:spcPts val="3279"/>
              </a:lnSpc>
            </a:pPr>
            <a:r>
              <a:rPr lang="en-US" sz="2342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CNIC / ID</a:t>
            </a:r>
          </a:p>
          <a:p>
            <a:pPr algn="ctr">
              <a:lnSpc>
                <a:spcPts val="3279"/>
              </a:lnSpc>
            </a:pPr>
            <a:r>
              <a:rPr lang="en-US" sz="2342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Vehicle model</a:t>
            </a:r>
          </a:p>
          <a:p>
            <a:pPr marL="0" lvl="0" indent="0" algn="ctr">
              <a:lnSpc>
                <a:spcPts val="3279"/>
              </a:lnSpc>
              <a:spcBef>
                <a:spcPct val="0"/>
              </a:spcBef>
            </a:pPr>
            <a:r>
              <a:rPr lang="en-US" sz="2342">
                <a:solidFill>
                  <a:srgbClr val="0014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Supports: add new user, update records, search by number plate</a:t>
            </a:r>
          </a:p>
        </p:txBody>
      </p:sp>
      <p:sp>
        <p:nvSpPr>
          <p:cNvPr id="12" name="AutoShape 12"/>
          <p:cNvSpPr/>
          <p:nvPr/>
        </p:nvSpPr>
        <p:spPr>
          <a:xfrm flipH="1">
            <a:off x="6374909" y="5357812"/>
            <a:ext cx="0" cy="4522588"/>
          </a:xfrm>
          <a:prstGeom prst="line">
            <a:avLst/>
          </a:prstGeom>
          <a:ln w="76200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2346858" y="5397544"/>
            <a:ext cx="0" cy="4522588"/>
          </a:xfrm>
          <a:prstGeom prst="line">
            <a:avLst/>
          </a:prstGeom>
          <a:ln w="76200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09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99545" y="535253"/>
            <a:ext cx="493447" cy="493447"/>
            <a:chOff x="0" y="0"/>
            <a:chExt cx="657929" cy="657929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>
              <a:off x="0" y="0"/>
              <a:ext cx="657929" cy="657929"/>
              <a:chOff x="0" y="0"/>
              <a:chExt cx="6355080" cy="6355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EFEFE"/>
              </a:solidFill>
            </p:spPr>
          </p:sp>
        </p:grpSp>
        <p:sp>
          <p:nvSpPr>
            <p:cNvPr id="5" name="Freeform 5"/>
            <p:cNvSpPr/>
            <p:nvPr/>
          </p:nvSpPr>
          <p:spPr>
            <a:xfrm rot="5400000">
              <a:off x="109655" y="109655"/>
              <a:ext cx="438619" cy="438619"/>
            </a:xfrm>
            <a:custGeom>
              <a:avLst/>
              <a:gdLst/>
              <a:ahLst/>
              <a:cxnLst/>
              <a:rect l="l" t="t" r="r" b="b"/>
              <a:pathLst>
                <a:path w="438619" h="438619">
                  <a:moveTo>
                    <a:pt x="0" y="0"/>
                  </a:moveTo>
                  <a:lnTo>
                    <a:pt x="438619" y="0"/>
                  </a:lnTo>
                  <a:lnTo>
                    <a:pt x="438619" y="438619"/>
                  </a:lnTo>
                  <a:lnTo>
                    <a:pt x="0" y="438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230826">
            <a:off x="-1365593" y="8361782"/>
            <a:ext cx="4788586" cy="3587086"/>
          </a:xfrm>
          <a:custGeom>
            <a:avLst/>
            <a:gdLst/>
            <a:ahLst/>
            <a:cxnLst/>
            <a:rect l="l" t="t" r="r" b="b"/>
            <a:pathLst>
              <a:path w="4788586" h="3587086">
                <a:moveTo>
                  <a:pt x="0" y="0"/>
                </a:moveTo>
                <a:lnTo>
                  <a:pt x="4788586" y="0"/>
                </a:lnTo>
                <a:lnTo>
                  <a:pt x="4788586" y="3587086"/>
                </a:lnTo>
                <a:lnTo>
                  <a:pt x="0" y="35870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28700" y="2649555"/>
          <a:ext cx="16470844" cy="7417231"/>
        </p:xfrm>
        <a:graphic>
          <a:graphicData uri="http://schemas.openxmlformats.org/drawingml/2006/table">
            <a:tbl>
              <a:tblPr/>
              <a:tblGrid>
                <a:gridCol w="2739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8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5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2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37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28464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D6D6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Image Processing Module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D6D6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Violation Detection Engine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D6D6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GUI Front-End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D6D6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Notification System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FFD6D6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Finance Manager (Pseudo Bank)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D6D6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Challan Manager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4073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Reads camera frames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Rule-based logic/Pre-Trained Model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Dashboard view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Sends email alerts via SMTP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Deducts fine amounts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Creates new challan entries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7402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Detects vehicles &amp; plates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Detects traffic violations automatically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dirty="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User profile view</a:t>
                      </a:r>
                      <a:endParaRPr lang="en-US" sz="11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Updates balances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Assigns unique challan IDs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7292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Performs character segmentation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Challan/payment interface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Marks challans PAID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dirty="0">
                          <a:solidFill>
                            <a:srgbClr val="FEFEFE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Links challans to user accounts</a:t>
                      </a:r>
                      <a:endParaRPr lang="en-US" sz="11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Freeform 8"/>
          <p:cNvSpPr/>
          <p:nvPr/>
        </p:nvSpPr>
        <p:spPr>
          <a:xfrm>
            <a:off x="15764535" y="-1465245"/>
            <a:ext cx="3804731" cy="4114800"/>
          </a:xfrm>
          <a:custGeom>
            <a:avLst/>
            <a:gdLst/>
            <a:ahLst/>
            <a:cxnLst/>
            <a:rect l="l" t="t" r="r" b="b"/>
            <a:pathLst>
              <a:path w="3804731" h="4114800">
                <a:moveTo>
                  <a:pt x="0" y="0"/>
                </a:moveTo>
                <a:lnTo>
                  <a:pt x="3804731" y="0"/>
                </a:lnTo>
                <a:lnTo>
                  <a:pt x="38047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028700"/>
            <a:ext cx="14936342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59"/>
              </a:lnSpc>
              <a:spcBef>
                <a:spcPct val="0"/>
              </a:spcBef>
            </a:pPr>
            <a:r>
              <a:rPr lang="en-US" sz="8799" dirty="0">
                <a:solidFill>
                  <a:srgbClr val="D7A33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Core System Modules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133600" y="5127460"/>
            <a:ext cx="16154400" cy="92240"/>
          </a:xfrm>
          <a:prstGeom prst="line">
            <a:avLst/>
          </a:prstGeom>
          <a:ln w="19050" cap="flat">
            <a:solidFill>
              <a:srgbClr val="1CABB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928618" y="4948238"/>
            <a:ext cx="323850" cy="323850"/>
            <a:chOff x="0" y="0"/>
            <a:chExt cx="6350000" cy="6350000"/>
          </a:xfrm>
          <a:solidFill>
            <a:srgbClr val="1CABB0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5" name="Group 5"/>
          <p:cNvGrpSpPr/>
          <p:nvPr/>
        </p:nvGrpSpPr>
        <p:grpSpPr>
          <a:xfrm>
            <a:off x="6515303" y="5048250"/>
            <a:ext cx="323850" cy="323850"/>
            <a:chOff x="0" y="0"/>
            <a:chExt cx="6350000" cy="6350000"/>
          </a:xfrm>
          <a:solidFill>
            <a:srgbClr val="1CABB0"/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7" name="Group 7"/>
          <p:cNvGrpSpPr/>
          <p:nvPr/>
        </p:nvGrpSpPr>
        <p:grpSpPr>
          <a:xfrm>
            <a:off x="10648756" y="5048250"/>
            <a:ext cx="323850" cy="323850"/>
            <a:chOff x="0" y="0"/>
            <a:chExt cx="6350000" cy="6350000"/>
          </a:xfrm>
          <a:solidFill>
            <a:srgbClr val="1CABB0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9" name="Group 9"/>
          <p:cNvGrpSpPr/>
          <p:nvPr/>
        </p:nvGrpSpPr>
        <p:grpSpPr>
          <a:xfrm>
            <a:off x="14829198" y="5048250"/>
            <a:ext cx="323850" cy="323850"/>
            <a:chOff x="0" y="0"/>
            <a:chExt cx="6350000" cy="6350000"/>
          </a:xfrm>
          <a:solidFill>
            <a:srgbClr val="1CABB0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12" name="Group 12"/>
          <p:cNvGrpSpPr/>
          <p:nvPr/>
        </p:nvGrpSpPr>
        <p:grpSpPr>
          <a:xfrm>
            <a:off x="17499545" y="535253"/>
            <a:ext cx="493447" cy="493447"/>
            <a:chOff x="0" y="0"/>
            <a:chExt cx="657929" cy="657929"/>
          </a:xfrm>
        </p:grpSpPr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0"/>
              <a:ext cx="657929" cy="657929"/>
              <a:chOff x="0" y="0"/>
              <a:chExt cx="6355080" cy="635508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E83A3C"/>
              </a:solidFill>
            </p:spPr>
          </p:sp>
        </p:grpSp>
        <p:sp>
          <p:nvSpPr>
            <p:cNvPr id="15" name="Freeform 15"/>
            <p:cNvSpPr/>
            <p:nvPr/>
          </p:nvSpPr>
          <p:spPr>
            <a:xfrm rot="5400000">
              <a:off x="109655" y="109655"/>
              <a:ext cx="438619" cy="438619"/>
            </a:xfrm>
            <a:custGeom>
              <a:avLst/>
              <a:gdLst/>
              <a:ahLst/>
              <a:cxnLst/>
              <a:rect l="l" t="t" r="r" b="b"/>
              <a:pathLst>
                <a:path w="438619" h="438619">
                  <a:moveTo>
                    <a:pt x="0" y="0"/>
                  </a:moveTo>
                  <a:lnTo>
                    <a:pt x="438619" y="0"/>
                  </a:lnTo>
                  <a:lnTo>
                    <a:pt x="438619" y="438619"/>
                  </a:lnTo>
                  <a:lnTo>
                    <a:pt x="0" y="438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028700" y="2160395"/>
            <a:ext cx="16230600" cy="1082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94"/>
              </a:lnSpc>
            </a:pPr>
            <a:r>
              <a:rPr lang="en-GB" sz="8689" b="1" dirty="0" smtClean="0">
                <a:solidFill>
                  <a:srgbClr val="1CABB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Workload Breakdown</a:t>
            </a:r>
            <a:endParaRPr lang="en-US" sz="8689" b="1" dirty="0">
              <a:solidFill>
                <a:srgbClr val="1CABB0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16145" y="5853578"/>
            <a:ext cx="3340688" cy="863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b="1" dirty="0" smtClean="0">
                <a:solidFill>
                  <a:srgbClr val="1CABB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Part_1: </a:t>
            </a:r>
            <a:r>
              <a:rPr lang="en-US" sz="2799" b="1" dirty="0" err="1" smtClean="0">
                <a:solidFill>
                  <a:srgbClr val="1CABB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OpenCV</a:t>
            </a:r>
            <a:r>
              <a:rPr lang="en-US" sz="2799" b="1" dirty="0" smtClean="0">
                <a:solidFill>
                  <a:srgbClr val="1CABB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Module</a:t>
            </a:r>
            <a:endParaRPr lang="en-US" sz="2799" b="1" dirty="0">
              <a:solidFill>
                <a:srgbClr val="1CABB0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37240" y="6723782"/>
            <a:ext cx="3706160" cy="300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 algn="l">
              <a:lnSpc>
                <a:spcPts val="3877"/>
              </a:lnSpc>
              <a:spcBef>
                <a:spcPct val="0"/>
              </a:spcBef>
              <a:buAutoNum type="arabicPeriod"/>
            </a:pPr>
            <a:r>
              <a:rPr lang="en-GB" sz="2769" dirty="0" smtClean="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Detection, Plate Extraction</a:t>
            </a:r>
          </a:p>
          <a:p>
            <a:pPr marL="514350" lvl="0" indent="-514350" algn="l">
              <a:lnSpc>
                <a:spcPts val="3877"/>
              </a:lnSpc>
              <a:spcBef>
                <a:spcPct val="0"/>
              </a:spcBef>
              <a:buAutoNum type="arabicPeriod"/>
            </a:pPr>
            <a:r>
              <a:rPr lang="en-GB" sz="2769" dirty="0" smtClean="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Plate text + violation Image</a:t>
            </a:r>
          </a:p>
          <a:p>
            <a:pPr marL="514350" lvl="0" indent="-514350" algn="l">
              <a:lnSpc>
                <a:spcPts val="3877"/>
              </a:lnSpc>
              <a:spcBef>
                <a:spcPct val="0"/>
              </a:spcBef>
              <a:buAutoNum type="arabicPeriod"/>
            </a:pPr>
            <a:endParaRPr lang="en-GB" sz="2000" dirty="0">
              <a:solidFill>
                <a:srgbClr val="FEFEF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lvl="0" algn="ctr">
              <a:lnSpc>
                <a:spcPts val="3877"/>
              </a:lnSpc>
              <a:spcBef>
                <a:spcPct val="0"/>
              </a:spcBef>
            </a:pPr>
            <a:r>
              <a:rPr lang="en-GB" sz="2400" b="1" dirty="0" smtClean="0">
                <a:solidFill>
                  <a:srgbClr val="76CEE4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=&gt; </a:t>
            </a:r>
            <a:r>
              <a:rPr lang="en-GB" sz="2400" b="1" dirty="0" err="1" smtClean="0">
                <a:solidFill>
                  <a:srgbClr val="76CEE4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Minahil</a:t>
            </a:r>
            <a:r>
              <a:rPr lang="en-GB" sz="2400" b="1" dirty="0" smtClean="0">
                <a:solidFill>
                  <a:srgbClr val="76CEE4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BSSE25045</a:t>
            </a:r>
            <a:endParaRPr lang="en-US" sz="2000" b="1" dirty="0">
              <a:solidFill>
                <a:srgbClr val="76CEE4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069986" y="5876925"/>
            <a:ext cx="3462134" cy="863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b="1" dirty="0" smtClean="0">
                <a:solidFill>
                  <a:srgbClr val="1CABB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Part_2: Database Manager</a:t>
            </a:r>
            <a:endParaRPr lang="en-US" sz="2799" b="1" dirty="0">
              <a:solidFill>
                <a:srgbClr val="1CABB0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069986" y="6734157"/>
            <a:ext cx="3462134" cy="350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lvl="0" indent="-514350" algn="l">
              <a:lnSpc>
                <a:spcPts val="3877"/>
              </a:lnSpc>
              <a:spcBef>
                <a:spcPct val="0"/>
              </a:spcBef>
              <a:buAutoNum type="arabicPeriod"/>
            </a:pPr>
            <a:r>
              <a:rPr lang="en-GB" sz="2400" dirty="0" smtClean="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Entries, Fetching, Setup</a:t>
            </a:r>
          </a:p>
          <a:p>
            <a:pPr marL="514350" lvl="0" indent="-514350" algn="l">
              <a:lnSpc>
                <a:spcPts val="3877"/>
              </a:lnSpc>
              <a:spcBef>
                <a:spcPct val="0"/>
              </a:spcBef>
              <a:buAutoNum type="arabicPeriod"/>
            </a:pPr>
            <a:r>
              <a:rPr lang="en-GB" sz="2400" dirty="0" smtClean="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JSON entries, Data extraction, Dynamic Array Manager</a:t>
            </a:r>
          </a:p>
          <a:p>
            <a:pPr lvl="0" algn="l">
              <a:lnSpc>
                <a:spcPts val="3877"/>
              </a:lnSpc>
              <a:spcBef>
                <a:spcPct val="0"/>
              </a:spcBef>
            </a:pPr>
            <a:endParaRPr lang="en-GB" sz="2400" dirty="0" smtClean="0">
              <a:solidFill>
                <a:srgbClr val="FEFEF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ctr">
              <a:lnSpc>
                <a:spcPts val="3877"/>
              </a:lnSpc>
              <a:spcBef>
                <a:spcPct val="0"/>
              </a:spcBef>
            </a:pPr>
            <a:r>
              <a:rPr lang="en-GB" sz="2200" b="1" dirty="0" smtClean="0">
                <a:solidFill>
                  <a:srgbClr val="76CEE4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=&gt; </a:t>
            </a:r>
            <a:r>
              <a:rPr lang="en-GB" sz="2200" b="1" dirty="0" smtClean="0">
                <a:solidFill>
                  <a:srgbClr val="76CEE4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Muhammad BSSE25002</a:t>
            </a:r>
            <a:endParaRPr lang="en-US" sz="2200" b="1" dirty="0">
              <a:solidFill>
                <a:srgbClr val="76CEE4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455964" y="5889879"/>
            <a:ext cx="3300209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b="1" dirty="0" smtClean="0">
                <a:solidFill>
                  <a:srgbClr val="1CABB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Part_3: </a:t>
            </a:r>
            <a:r>
              <a:rPr lang="en-US" sz="2799" b="1" dirty="0" err="1" smtClean="0">
                <a:solidFill>
                  <a:srgbClr val="1CABB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GUI+Email</a:t>
            </a:r>
            <a:endParaRPr lang="en-US" sz="2799" b="1" dirty="0">
              <a:solidFill>
                <a:srgbClr val="1CABB0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448913" y="6762732"/>
            <a:ext cx="3389221" cy="26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359"/>
              </a:lnSpc>
              <a:buAutoNum type="arabicPeriod"/>
            </a:pPr>
            <a:r>
              <a:rPr lang="en-GB" sz="2400" dirty="0" smtClean="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GUI setups for the project</a:t>
            </a:r>
          </a:p>
          <a:p>
            <a:pPr marL="457200" indent="-457200" algn="l">
              <a:lnSpc>
                <a:spcPts val="3359"/>
              </a:lnSpc>
              <a:buAutoNum type="arabicPeriod"/>
            </a:pPr>
            <a:r>
              <a:rPr lang="en-GB" sz="2400" dirty="0" smtClean="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Email Notifications to the users</a:t>
            </a:r>
          </a:p>
          <a:p>
            <a:pPr marL="457200" indent="-457200" algn="l">
              <a:lnSpc>
                <a:spcPts val="3359"/>
              </a:lnSpc>
              <a:buAutoNum type="arabicPeriod"/>
            </a:pPr>
            <a:endParaRPr lang="en-GB" sz="2400" dirty="0">
              <a:solidFill>
                <a:srgbClr val="FEFEF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ctr">
              <a:lnSpc>
                <a:spcPts val="3359"/>
              </a:lnSpc>
            </a:pPr>
            <a:r>
              <a:rPr lang="en-GB" sz="2400" b="1" dirty="0" smtClean="0">
                <a:solidFill>
                  <a:srgbClr val="76CEE4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=&gt; Fatima BSSE25013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10675" y="5889879"/>
            <a:ext cx="3485763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b="1" dirty="0" smtClean="0">
                <a:solidFill>
                  <a:srgbClr val="1CABB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Part_3: Finances</a:t>
            </a:r>
            <a:endParaRPr lang="en-US" sz="2799" b="1" dirty="0">
              <a:solidFill>
                <a:srgbClr val="1CABB0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210675" y="6762732"/>
            <a:ext cx="3485763" cy="300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 algn="l">
              <a:lnSpc>
                <a:spcPts val="3877"/>
              </a:lnSpc>
              <a:buAutoNum type="arabicPeriod"/>
            </a:pPr>
            <a:r>
              <a:rPr lang="en-GB" sz="2769" dirty="0" smtClean="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Bank Management, </a:t>
            </a:r>
          </a:p>
          <a:p>
            <a:pPr marL="514350" indent="-514350" algn="l">
              <a:lnSpc>
                <a:spcPts val="3877"/>
              </a:lnSpc>
              <a:buAutoNum type="arabicPeriod"/>
            </a:pPr>
            <a:r>
              <a:rPr lang="en-GB" sz="2769" dirty="0" smtClean="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Challan Payments, Accounts Management</a:t>
            </a:r>
          </a:p>
          <a:p>
            <a:pPr marL="514350" indent="-514350" algn="l">
              <a:lnSpc>
                <a:spcPts val="3877"/>
              </a:lnSpc>
              <a:buAutoNum type="arabicPeriod"/>
            </a:pPr>
            <a:endParaRPr lang="en-GB" sz="2000" dirty="0">
              <a:solidFill>
                <a:srgbClr val="FEFEF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ctr">
              <a:lnSpc>
                <a:spcPts val="3877"/>
              </a:lnSpc>
            </a:pPr>
            <a:r>
              <a:rPr lang="en-GB" sz="2400" b="1" dirty="0" smtClean="0">
                <a:solidFill>
                  <a:srgbClr val="76CEE4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=&gt; </a:t>
            </a:r>
            <a:r>
              <a:rPr lang="en-GB" sz="2400" b="1" dirty="0" err="1" smtClean="0">
                <a:solidFill>
                  <a:srgbClr val="76CEE4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Eman</a:t>
            </a:r>
            <a:r>
              <a:rPr lang="en-GB" sz="2400" b="1" dirty="0" smtClean="0">
                <a:solidFill>
                  <a:srgbClr val="76CEE4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BSSE25038</a:t>
            </a:r>
          </a:p>
        </p:txBody>
      </p:sp>
      <p:sp>
        <p:nvSpPr>
          <p:cNvPr id="27" name="AutoShape 27"/>
          <p:cNvSpPr/>
          <p:nvPr/>
        </p:nvSpPr>
        <p:spPr>
          <a:xfrm>
            <a:off x="4641985" y="5485434"/>
            <a:ext cx="0" cy="4522588"/>
          </a:xfrm>
          <a:prstGeom prst="line">
            <a:avLst/>
          </a:prstGeom>
          <a:ln w="76200" cap="flat">
            <a:solidFill>
              <a:srgbClr val="1CAB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8776148" y="5485434"/>
            <a:ext cx="0" cy="4522588"/>
          </a:xfrm>
          <a:prstGeom prst="line">
            <a:avLst/>
          </a:prstGeom>
          <a:ln w="76200" cap="flat">
            <a:solidFill>
              <a:srgbClr val="1CAB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13106400" y="5485434"/>
            <a:ext cx="0" cy="4522588"/>
          </a:xfrm>
          <a:prstGeom prst="line">
            <a:avLst/>
          </a:prstGeom>
          <a:ln w="76200" cap="flat">
            <a:solidFill>
              <a:srgbClr val="1CAB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Freeform 11"/>
          <p:cNvSpPr/>
          <p:nvPr/>
        </p:nvSpPr>
        <p:spPr>
          <a:xfrm rot="-10800000">
            <a:off x="12401753" y="-554667"/>
            <a:ext cx="7134225" cy="2231067"/>
          </a:xfrm>
          <a:custGeom>
            <a:avLst/>
            <a:gdLst/>
            <a:ahLst/>
            <a:cxnLst/>
            <a:rect l="l" t="t" r="r" b="b"/>
            <a:pathLst>
              <a:path w="7134225" h="2231067">
                <a:moveTo>
                  <a:pt x="0" y="0"/>
                </a:moveTo>
                <a:lnTo>
                  <a:pt x="7134225" y="0"/>
                </a:lnTo>
                <a:lnTo>
                  <a:pt x="7134225" y="2231067"/>
                </a:lnTo>
                <a:lnTo>
                  <a:pt x="0" y="223106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4700"/>
                      </a14:imgEffect>
                      <a14:imgEffect>
                        <a14:saturation sat="395000"/>
                      </a14:imgEffect>
                    </a14:imgLayer>
                  </a14:imgProps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31" name="Freeform 16"/>
          <p:cNvSpPr/>
          <p:nvPr/>
        </p:nvSpPr>
        <p:spPr>
          <a:xfrm rot="-10800000">
            <a:off x="5576887" y="-467833"/>
            <a:ext cx="7134225" cy="2231067"/>
          </a:xfrm>
          <a:custGeom>
            <a:avLst/>
            <a:gdLst/>
            <a:ahLst/>
            <a:cxnLst/>
            <a:rect l="l" t="t" r="r" b="b"/>
            <a:pathLst>
              <a:path w="7134225" h="2231067">
                <a:moveTo>
                  <a:pt x="0" y="0"/>
                </a:moveTo>
                <a:lnTo>
                  <a:pt x="7134225" y="0"/>
                </a:lnTo>
                <a:lnTo>
                  <a:pt x="7134225" y="2231066"/>
                </a:lnTo>
                <a:lnTo>
                  <a:pt x="0" y="2231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4700"/>
                      </a14:imgEffect>
                    </a14:imgLayer>
                  </a14:imgProps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17"/>
          <p:cNvSpPr/>
          <p:nvPr/>
        </p:nvSpPr>
        <p:spPr>
          <a:xfrm rot="-10800000">
            <a:off x="-1247978" y="-381000"/>
            <a:ext cx="7134225" cy="2231067"/>
          </a:xfrm>
          <a:custGeom>
            <a:avLst/>
            <a:gdLst/>
            <a:ahLst/>
            <a:cxnLst/>
            <a:rect l="l" t="t" r="r" b="b"/>
            <a:pathLst>
              <a:path w="7134225" h="2231067">
                <a:moveTo>
                  <a:pt x="0" y="0"/>
                </a:moveTo>
                <a:lnTo>
                  <a:pt x="7134225" y="0"/>
                </a:lnTo>
                <a:lnTo>
                  <a:pt x="7134225" y="2231067"/>
                </a:lnTo>
                <a:lnTo>
                  <a:pt x="0" y="22310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4700"/>
                      </a14:imgEffect>
                    </a14:imgLayer>
                  </a14:imgProps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AB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133600" y="5127460"/>
            <a:ext cx="16154400" cy="92240"/>
          </a:xfrm>
          <a:prstGeom prst="line">
            <a:avLst/>
          </a:prstGeom>
          <a:ln w="19050" cap="flat">
            <a:solidFill>
              <a:srgbClr val="00143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928618" y="4948238"/>
            <a:ext cx="323850" cy="3238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143D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515303" y="5048250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143D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648756" y="5048250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143D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4829198" y="5048250"/>
            <a:ext cx="323850" cy="3238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143D"/>
            </a:solidFill>
          </p:spPr>
        </p:sp>
      </p:grpSp>
      <p:sp>
        <p:nvSpPr>
          <p:cNvPr id="11" name="Freeform 11"/>
          <p:cNvSpPr/>
          <p:nvPr/>
        </p:nvSpPr>
        <p:spPr>
          <a:xfrm rot="-10800000">
            <a:off x="12401753" y="-554667"/>
            <a:ext cx="7134225" cy="2231067"/>
          </a:xfrm>
          <a:custGeom>
            <a:avLst/>
            <a:gdLst/>
            <a:ahLst/>
            <a:cxnLst/>
            <a:rect l="l" t="t" r="r" b="b"/>
            <a:pathLst>
              <a:path w="7134225" h="2231067">
                <a:moveTo>
                  <a:pt x="0" y="0"/>
                </a:moveTo>
                <a:lnTo>
                  <a:pt x="7134225" y="0"/>
                </a:lnTo>
                <a:lnTo>
                  <a:pt x="7134225" y="2231067"/>
                </a:lnTo>
                <a:lnTo>
                  <a:pt x="0" y="2231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7499545" y="535253"/>
            <a:ext cx="493447" cy="493447"/>
            <a:chOff x="0" y="0"/>
            <a:chExt cx="657929" cy="657929"/>
          </a:xfrm>
        </p:grpSpPr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0"/>
              <a:ext cx="657929" cy="657929"/>
              <a:chOff x="0" y="0"/>
              <a:chExt cx="6355080" cy="635508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E83A3C"/>
              </a:solidFill>
            </p:spPr>
          </p:sp>
        </p:grpSp>
        <p:sp>
          <p:nvSpPr>
            <p:cNvPr id="15" name="Freeform 15"/>
            <p:cNvSpPr/>
            <p:nvPr/>
          </p:nvSpPr>
          <p:spPr>
            <a:xfrm rot="5400000">
              <a:off x="109655" y="109655"/>
              <a:ext cx="438619" cy="438619"/>
            </a:xfrm>
            <a:custGeom>
              <a:avLst/>
              <a:gdLst/>
              <a:ahLst/>
              <a:cxnLst/>
              <a:rect l="l" t="t" r="r" b="b"/>
              <a:pathLst>
                <a:path w="438619" h="438619">
                  <a:moveTo>
                    <a:pt x="0" y="0"/>
                  </a:moveTo>
                  <a:lnTo>
                    <a:pt x="438619" y="0"/>
                  </a:lnTo>
                  <a:lnTo>
                    <a:pt x="438619" y="438619"/>
                  </a:lnTo>
                  <a:lnTo>
                    <a:pt x="0" y="438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 rot="-10800000">
            <a:off x="5576887" y="-467833"/>
            <a:ext cx="7134225" cy="2231067"/>
          </a:xfrm>
          <a:custGeom>
            <a:avLst/>
            <a:gdLst/>
            <a:ahLst/>
            <a:cxnLst/>
            <a:rect l="l" t="t" r="r" b="b"/>
            <a:pathLst>
              <a:path w="7134225" h="2231067">
                <a:moveTo>
                  <a:pt x="0" y="0"/>
                </a:moveTo>
                <a:lnTo>
                  <a:pt x="7134225" y="0"/>
                </a:lnTo>
                <a:lnTo>
                  <a:pt x="7134225" y="2231066"/>
                </a:lnTo>
                <a:lnTo>
                  <a:pt x="0" y="2231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800000">
            <a:off x="-1247978" y="-381000"/>
            <a:ext cx="7134225" cy="2231067"/>
          </a:xfrm>
          <a:custGeom>
            <a:avLst/>
            <a:gdLst/>
            <a:ahLst/>
            <a:cxnLst/>
            <a:rect l="l" t="t" r="r" b="b"/>
            <a:pathLst>
              <a:path w="7134225" h="2231067">
                <a:moveTo>
                  <a:pt x="0" y="0"/>
                </a:moveTo>
                <a:lnTo>
                  <a:pt x="7134225" y="0"/>
                </a:lnTo>
                <a:lnTo>
                  <a:pt x="7134225" y="2231067"/>
                </a:lnTo>
                <a:lnTo>
                  <a:pt x="0" y="2231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2160395"/>
            <a:ext cx="16230600" cy="209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94"/>
              </a:lnSpc>
            </a:pPr>
            <a:r>
              <a:rPr lang="en-US" sz="8689" b="1" dirty="0">
                <a:solidFill>
                  <a:srgbClr val="00143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Task List (Detailed Breakdown)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6145" y="5853578"/>
            <a:ext cx="334068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143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Phase 1 — System Setup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6145" y="6723782"/>
            <a:ext cx="3397838" cy="143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7"/>
              </a:lnSpc>
              <a:spcBef>
                <a:spcPct val="0"/>
              </a:spcBef>
            </a:pPr>
            <a:r>
              <a:rPr lang="en-US" sz="2769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Set up project structure &amp; file-based pseudo databases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69986" y="5876925"/>
            <a:ext cx="3462134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143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Phase 2 — Image &amp; Camera Processing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69986" y="6734157"/>
            <a:ext cx="3462134" cy="143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7"/>
              </a:lnSpc>
              <a:spcBef>
                <a:spcPct val="0"/>
              </a:spcBef>
            </a:pPr>
            <a:r>
              <a:rPr lang="en-US" sz="2769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Implement camera/image input handling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55964" y="5889879"/>
            <a:ext cx="330020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143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Phase 4 — Pseudo Databases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48913" y="6762732"/>
            <a:ext cx="3389221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Build registration, challan &amp; bank data files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Add dynamic array-based financial records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10675" y="5889879"/>
            <a:ext cx="3485763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143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Phase 3 — Violation Detection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10675" y="6762732"/>
            <a:ext cx="3485763" cy="192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2769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Rule-based logic</a:t>
            </a:r>
          </a:p>
          <a:p>
            <a:pPr marL="0" lvl="0" indent="0" algn="l">
              <a:lnSpc>
                <a:spcPts val="3877"/>
              </a:lnSpc>
              <a:spcBef>
                <a:spcPct val="0"/>
              </a:spcBef>
            </a:pPr>
            <a:r>
              <a:rPr lang="en-US" sz="2769">
                <a:solidFill>
                  <a:srgbClr val="FEFEF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Detects traffic violations automatically</a:t>
            </a:r>
          </a:p>
        </p:txBody>
      </p:sp>
      <p:sp>
        <p:nvSpPr>
          <p:cNvPr id="27" name="AutoShape 27"/>
          <p:cNvSpPr/>
          <p:nvPr/>
        </p:nvSpPr>
        <p:spPr>
          <a:xfrm>
            <a:off x="4641985" y="5485434"/>
            <a:ext cx="0" cy="4522588"/>
          </a:xfrm>
          <a:prstGeom prst="line">
            <a:avLst/>
          </a:prstGeom>
          <a:ln w="76200" cap="flat">
            <a:solidFill>
              <a:srgbClr val="0014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8776148" y="5485434"/>
            <a:ext cx="0" cy="4522588"/>
          </a:xfrm>
          <a:prstGeom prst="line">
            <a:avLst/>
          </a:prstGeom>
          <a:ln w="76200" cap="flat">
            <a:solidFill>
              <a:srgbClr val="0014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13072675" y="5485434"/>
            <a:ext cx="0" cy="4522588"/>
          </a:xfrm>
          <a:prstGeom prst="line">
            <a:avLst/>
          </a:prstGeom>
          <a:ln w="76200" cap="flat">
            <a:solidFill>
              <a:srgbClr val="00143D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2922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AB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110163"/>
            <a:ext cx="16597918" cy="0"/>
          </a:xfrm>
          <a:prstGeom prst="line">
            <a:avLst/>
          </a:prstGeom>
          <a:ln w="19050" cap="flat">
            <a:solidFill>
              <a:srgbClr val="00143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463213" y="4928256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143D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5759829" y="4948238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143D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597918" y="4948238"/>
            <a:ext cx="323850" cy="3238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143D"/>
            </a:solidFill>
          </p:spPr>
        </p:sp>
      </p:grpSp>
      <p:sp>
        <p:nvSpPr>
          <p:cNvPr id="11" name="Freeform 11"/>
          <p:cNvSpPr/>
          <p:nvPr/>
        </p:nvSpPr>
        <p:spPr>
          <a:xfrm rot="-10800000">
            <a:off x="12401753" y="-554667"/>
            <a:ext cx="7134225" cy="2231067"/>
          </a:xfrm>
          <a:custGeom>
            <a:avLst/>
            <a:gdLst/>
            <a:ahLst/>
            <a:cxnLst/>
            <a:rect l="l" t="t" r="r" b="b"/>
            <a:pathLst>
              <a:path w="7134225" h="2231067">
                <a:moveTo>
                  <a:pt x="0" y="0"/>
                </a:moveTo>
                <a:lnTo>
                  <a:pt x="7134225" y="0"/>
                </a:lnTo>
                <a:lnTo>
                  <a:pt x="7134225" y="2231067"/>
                </a:lnTo>
                <a:lnTo>
                  <a:pt x="0" y="2231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7499545" y="535253"/>
            <a:ext cx="493447" cy="493447"/>
            <a:chOff x="0" y="0"/>
            <a:chExt cx="657929" cy="657929"/>
          </a:xfrm>
        </p:grpSpPr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0"/>
              <a:ext cx="657929" cy="657929"/>
              <a:chOff x="0" y="0"/>
              <a:chExt cx="6355080" cy="635508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E83A3C"/>
              </a:solidFill>
            </p:spPr>
          </p:sp>
        </p:grpSp>
        <p:sp>
          <p:nvSpPr>
            <p:cNvPr id="15" name="Freeform 15"/>
            <p:cNvSpPr/>
            <p:nvPr/>
          </p:nvSpPr>
          <p:spPr>
            <a:xfrm rot="5400000">
              <a:off x="109655" y="109655"/>
              <a:ext cx="438619" cy="438619"/>
            </a:xfrm>
            <a:custGeom>
              <a:avLst/>
              <a:gdLst/>
              <a:ahLst/>
              <a:cxnLst/>
              <a:rect l="l" t="t" r="r" b="b"/>
              <a:pathLst>
                <a:path w="438619" h="438619">
                  <a:moveTo>
                    <a:pt x="0" y="0"/>
                  </a:moveTo>
                  <a:lnTo>
                    <a:pt x="438619" y="0"/>
                  </a:lnTo>
                  <a:lnTo>
                    <a:pt x="438619" y="438619"/>
                  </a:lnTo>
                  <a:lnTo>
                    <a:pt x="0" y="438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 rot="-10800000">
            <a:off x="5576887" y="-467833"/>
            <a:ext cx="7134225" cy="2231067"/>
          </a:xfrm>
          <a:custGeom>
            <a:avLst/>
            <a:gdLst/>
            <a:ahLst/>
            <a:cxnLst/>
            <a:rect l="l" t="t" r="r" b="b"/>
            <a:pathLst>
              <a:path w="7134225" h="2231067">
                <a:moveTo>
                  <a:pt x="0" y="0"/>
                </a:moveTo>
                <a:lnTo>
                  <a:pt x="7134225" y="0"/>
                </a:lnTo>
                <a:lnTo>
                  <a:pt x="7134225" y="2231066"/>
                </a:lnTo>
                <a:lnTo>
                  <a:pt x="0" y="2231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800000">
            <a:off x="-1247978" y="-381000"/>
            <a:ext cx="7134225" cy="2231067"/>
          </a:xfrm>
          <a:custGeom>
            <a:avLst/>
            <a:gdLst/>
            <a:ahLst/>
            <a:cxnLst/>
            <a:rect l="l" t="t" r="r" b="b"/>
            <a:pathLst>
              <a:path w="7134225" h="2231067">
                <a:moveTo>
                  <a:pt x="0" y="0"/>
                </a:moveTo>
                <a:lnTo>
                  <a:pt x="7134225" y="0"/>
                </a:lnTo>
                <a:lnTo>
                  <a:pt x="7134225" y="2231067"/>
                </a:lnTo>
                <a:lnTo>
                  <a:pt x="0" y="2231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9634022" y="4948238"/>
            <a:ext cx="323850" cy="323850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143D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2872319" y="4948238"/>
            <a:ext cx="323850" cy="323850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143D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28700" y="2160395"/>
            <a:ext cx="16230600" cy="209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94"/>
              </a:lnSpc>
            </a:pPr>
            <a:r>
              <a:rPr lang="en-US" sz="8689" b="1">
                <a:solidFill>
                  <a:srgbClr val="00143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Task List (Detailed Breakdown)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4073" y="5853578"/>
            <a:ext cx="334068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143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Phase 5 — Challan Workflow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3598" y="6772257"/>
            <a:ext cx="3935188" cy="289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2769">
                <a:solidFill>
                  <a:srgbClr val="FCFCF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Generate challans automatically</a:t>
            </a:r>
          </a:p>
          <a:p>
            <a:pPr algn="l">
              <a:lnSpc>
                <a:spcPts val="3877"/>
              </a:lnSpc>
            </a:pPr>
            <a:r>
              <a:rPr lang="en-US" sz="2769">
                <a:solidFill>
                  <a:srgbClr val="FCFCF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Save challans in database</a:t>
            </a:r>
          </a:p>
          <a:p>
            <a:pPr marL="0" lvl="0" indent="0" algn="l">
              <a:lnSpc>
                <a:spcPts val="3877"/>
              </a:lnSpc>
              <a:spcBef>
                <a:spcPct val="0"/>
              </a:spcBef>
            </a:pPr>
            <a:r>
              <a:rPr lang="en-US" sz="2769">
                <a:solidFill>
                  <a:srgbClr val="FCFCF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Connect challans to owners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00212" y="5876925"/>
            <a:ext cx="3462134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143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Phase 6 — Payment System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162112" y="6791307"/>
            <a:ext cx="3462134" cy="240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2769">
                <a:solidFill>
                  <a:srgbClr val="FCFCF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Simulate financial transactions</a:t>
            </a:r>
          </a:p>
          <a:p>
            <a:pPr algn="l">
              <a:lnSpc>
                <a:spcPts val="3877"/>
              </a:lnSpc>
            </a:pPr>
            <a:r>
              <a:rPr lang="en-US" sz="2769">
                <a:solidFill>
                  <a:srgbClr val="FCFCF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Update payment status</a:t>
            </a:r>
          </a:p>
          <a:p>
            <a:pPr marL="0" lvl="0" indent="0" algn="l">
              <a:lnSpc>
                <a:spcPts val="3877"/>
              </a:lnSpc>
              <a:spcBef>
                <a:spcPct val="0"/>
              </a:spcBef>
            </a:pPr>
            <a:r>
              <a:rPr lang="en-US" sz="2769">
                <a:solidFill>
                  <a:srgbClr val="FCFCF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Generate receipts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525769" y="5889879"/>
            <a:ext cx="330020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143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Phase 8 — GUI Development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18717" y="6819882"/>
            <a:ext cx="3389221" cy="208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CFCF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Build simple, intuitive interface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CFCF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Add views for registration, challans, payments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76671" y="5889879"/>
            <a:ext cx="3485763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143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Phase 7 — Email Integration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76671" y="6800832"/>
            <a:ext cx="3485763" cy="192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2769">
                <a:solidFill>
                  <a:srgbClr val="FCFCF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Implement SMTP service</a:t>
            </a:r>
          </a:p>
          <a:p>
            <a:pPr marL="0" lvl="0" indent="0" algn="l">
              <a:lnSpc>
                <a:spcPts val="3877"/>
              </a:lnSpc>
              <a:spcBef>
                <a:spcPct val="0"/>
              </a:spcBef>
            </a:pPr>
            <a:r>
              <a:rPr lang="en-US" sz="2769">
                <a:solidFill>
                  <a:srgbClr val="FCFCF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Auto-send challan notifications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996950" y="5967413"/>
            <a:ext cx="3300209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143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Phase 9 — Testing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907938" y="6800832"/>
            <a:ext cx="3471181" cy="255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1"/>
              </a:lnSpc>
            </a:pPr>
            <a:r>
              <a:rPr lang="en-US" sz="2458">
                <a:solidFill>
                  <a:srgbClr val="FCFCF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Test detection with multiple images</a:t>
            </a:r>
          </a:p>
          <a:p>
            <a:pPr algn="l">
              <a:lnSpc>
                <a:spcPts val="3441"/>
              </a:lnSpc>
            </a:pPr>
            <a:r>
              <a:rPr lang="en-US" sz="2458">
                <a:solidFill>
                  <a:srgbClr val="FCFCF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Validate payment and email workflow</a:t>
            </a:r>
          </a:p>
          <a:p>
            <a:pPr marL="0" lvl="0" indent="0" algn="l">
              <a:lnSpc>
                <a:spcPts val="3441"/>
              </a:lnSpc>
              <a:spcBef>
                <a:spcPct val="0"/>
              </a:spcBef>
            </a:pPr>
            <a:r>
              <a:rPr lang="en-US" sz="2458">
                <a:solidFill>
                  <a:srgbClr val="FCFCF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• Final debugging and refinement</a:t>
            </a:r>
          </a:p>
        </p:txBody>
      </p:sp>
      <p:sp>
        <p:nvSpPr>
          <p:cNvPr id="33" name="AutoShape 33"/>
          <p:cNvSpPr/>
          <p:nvPr/>
        </p:nvSpPr>
        <p:spPr>
          <a:xfrm>
            <a:off x="3912487" y="5523534"/>
            <a:ext cx="0" cy="4522588"/>
          </a:xfrm>
          <a:prstGeom prst="line">
            <a:avLst/>
          </a:prstGeom>
          <a:ln w="76200" cap="flat">
            <a:solidFill>
              <a:srgbClr val="0014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34"/>
          <p:cNvSpPr/>
          <p:nvPr/>
        </p:nvSpPr>
        <p:spPr>
          <a:xfrm>
            <a:off x="7700446" y="5523534"/>
            <a:ext cx="0" cy="4522588"/>
          </a:xfrm>
          <a:prstGeom prst="line">
            <a:avLst/>
          </a:prstGeom>
          <a:ln w="76200" cap="flat">
            <a:solidFill>
              <a:srgbClr val="0014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AutoShape 35"/>
          <p:cNvSpPr/>
          <p:nvPr/>
        </p:nvSpPr>
        <p:spPr>
          <a:xfrm>
            <a:off x="11299642" y="5523534"/>
            <a:ext cx="0" cy="4522588"/>
          </a:xfrm>
          <a:prstGeom prst="line">
            <a:avLst/>
          </a:prstGeom>
          <a:ln w="76200" cap="flat">
            <a:solidFill>
              <a:srgbClr val="0014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AutoShape 36"/>
          <p:cNvSpPr/>
          <p:nvPr/>
        </p:nvSpPr>
        <p:spPr>
          <a:xfrm>
            <a:off x="14740253" y="5623483"/>
            <a:ext cx="0" cy="4522588"/>
          </a:xfrm>
          <a:prstGeom prst="line">
            <a:avLst/>
          </a:prstGeom>
          <a:ln w="76200" cap="flat">
            <a:solidFill>
              <a:srgbClr val="00143D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835</Words>
  <Application>Microsoft Office PowerPoint</Application>
  <PresentationFormat>Custom</PresentationFormat>
  <Paragraphs>146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Atkinson Hyperlegible</vt:lpstr>
      <vt:lpstr>Atkinson Hyperlegible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Muhammad Zaid</cp:lastModifiedBy>
  <cp:revision>34</cp:revision>
  <dcterms:created xsi:type="dcterms:W3CDTF">2006-08-16T00:00:00Z</dcterms:created>
  <dcterms:modified xsi:type="dcterms:W3CDTF">2025-11-30T09:51:32Z</dcterms:modified>
  <dc:identifier>DAG6A1lin_E</dc:identifier>
</cp:coreProperties>
</file>