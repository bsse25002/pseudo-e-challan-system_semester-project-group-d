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5" r:id="rId12"/>
  </p:sldIdLst>
  <p:sldSz cx="18288000" cy="10287000"/>
  <p:notesSz cx="6858000" cy="9144000"/>
  <p:embeddedFontLst>
    <p:embeddedFont>
      <p:font typeface="Atkinson Hyperlegible" panose="020B0604020202020204" charset="0"/>
      <p:regular r:id="rId13"/>
    </p:embeddedFont>
    <p:embeddedFont>
      <p:font typeface="Atkinson Hyperlegible Bold" panose="020B0604020202020204" charset="0"/>
      <p:regular r:id="rId14"/>
    </p:embeddedFont>
    <p:embeddedFont>
      <p:font typeface="Calibri" panose="020F0502020204030204" pitchFamily="34" charset="0"/>
      <p:regular r:id="rId15"/>
      <p:bold r:id="rId16"/>
      <p:italic r:id="rId17"/>
      <p:boldItalic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CEE4"/>
    <a:srgbClr val="1CABB0"/>
    <a:srgbClr val="00143D"/>
    <a:srgbClr val="D7A33D"/>
    <a:srgbClr val="4D42A0"/>
    <a:srgbClr val="AA6FEB"/>
    <a:srgbClr val="1B2A4C"/>
    <a:srgbClr val="427EC6"/>
    <a:srgbClr val="88444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9307" autoAdjust="0"/>
    <p:restoredTop sz="94622" autoAdjust="0"/>
  </p:normalViewPr>
  <p:slideViewPr>
    <p:cSldViewPr>
      <p:cViewPr>
        <p:scale>
          <a:sx n="33" d="100"/>
          <a:sy n="33" d="100"/>
        </p:scale>
        <p:origin x="1325" y="773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png"/><Relationship Id="rId7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3.png"/><Relationship Id="rId10" Type="http://schemas.openxmlformats.org/officeDocument/2006/relationships/image" Target="../media/image9.svg"/><Relationship Id="rId4" Type="http://schemas.openxmlformats.org/officeDocument/2006/relationships/image" Target="../media/image3.svg"/><Relationship Id="rId9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svg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svg"/><Relationship Id="rId5" Type="http://schemas.openxmlformats.org/officeDocument/2006/relationships/image" Target="../media/image11.png"/><Relationship Id="rId4" Type="http://schemas.openxmlformats.org/officeDocument/2006/relationships/image" Target="../media/image10.jpe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svg"/><Relationship Id="rId3" Type="http://schemas.openxmlformats.org/officeDocument/2006/relationships/image" Target="../media/image20.svg"/><Relationship Id="rId7" Type="http://schemas.openxmlformats.org/officeDocument/2006/relationships/image" Target="../media/image15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22.svg"/><Relationship Id="rId10" Type="http://schemas.openxmlformats.org/officeDocument/2006/relationships/image" Target="../media/image27.svg"/><Relationship Id="rId4" Type="http://schemas.openxmlformats.org/officeDocument/2006/relationships/image" Target="../media/image13.png"/><Relationship Id="rId9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svg"/><Relationship Id="rId3" Type="http://schemas.openxmlformats.org/officeDocument/2006/relationships/image" Target="../media/image31.svg"/><Relationship Id="rId7" Type="http://schemas.openxmlformats.org/officeDocument/2006/relationships/image" Target="../media/image21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png"/><Relationship Id="rId5" Type="http://schemas.openxmlformats.org/officeDocument/2006/relationships/image" Target="../media/image33.svg"/><Relationship Id="rId4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jpeg"/><Relationship Id="rId5" Type="http://schemas.openxmlformats.org/officeDocument/2006/relationships/image" Target="../media/image40.svg"/><Relationship Id="rId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svg"/><Relationship Id="rId7" Type="http://schemas.openxmlformats.org/officeDocument/2006/relationships/image" Target="../media/image47.sv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png"/><Relationship Id="rId5" Type="http://schemas.openxmlformats.org/officeDocument/2006/relationships/image" Target="../media/image45.svg"/><Relationship Id="rId4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svg"/><Relationship Id="rId7" Type="http://schemas.microsoft.com/office/2007/relationships/hdphoto" Target="../media/hdphoto1.wdp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9.png"/><Relationship Id="rId5" Type="http://schemas.openxmlformats.org/officeDocument/2006/relationships/image" Target="../media/image51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sv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1.svg"/><Relationship Id="rId4" Type="http://schemas.openxmlformats.org/officeDocument/2006/relationships/image" Target="../media/image2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sv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1.svg"/><Relationship Id="rId4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>
                <a:alpha val="100000"/>
              </a:srgbClr>
            </a:gs>
            <a:gs pos="100000">
              <a:srgbClr val="3533CD">
                <a:alpha val="100000"/>
              </a:srgbClr>
            </a:gs>
          </a:gsLst>
          <a:lin ang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997059" y="-964224"/>
            <a:ext cx="11517624" cy="11438600"/>
            <a:chOff x="0" y="0"/>
            <a:chExt cx="6338242" cy="6294755"/>
          </a:xfrm>
        </p:grpSpPr>
        <p:sp>
          <p:nvSpPr>
            <p:cNvPr id="3" name="Freeform 3"/>
            <p:cNvSpPr/>
            <p:nvPr/>
          </p:nvSpPr>
          <p:spPr>
            <a:xfrm>
              <a:off x="1482" y="61"/>
              <a:ext cx="6336760" cy="6294694"/>
            </a:xfrm>
            <a:custGeom>
              <a:avLst/>
              <a:gdLst/>
              <a:ahLst/>
              <a:cxnLst/>
              <a:rect l="l" t="t" r="r" b="b"/>
              <a:pathLst>
                <a:path w="6336760" h="6294694">
                  <a:moveTo>
                    <a:pt x="6023128" y="655513"/>
                  </a:moveTo>
                  <a:cubicBezTo>
                    <a:pt x="6195647" y="689676"/>
                    <a:pt x="6336760" y="849061"/>
                    <a:pt x="6336760" y="1009716"/>
                  </a:cubicBezTo>
                  <a:lnTo>
                    <a:pt x="6336760" y="6002594"/>
                  </a:lnTo>
                  <a:cubicBezTo>
                    <a:pt x="6336760" y="6163249"/>
                    <a:pt x="6192297" y="6294694"/>
                    <a:pt x="6015731" y="6294694"/>
                  </a:cubicBezTo>
                  <a:lnTo>
                    <a:pt x="228264" y="6294694"/>
                  </a:lnTo>
                  <a:cubicBezTo>
                    <a:pt x="51697" y="6294694"/>
                    <a:pt x="-39709" y="6171123"/>
                    <a:pt x="16524" y="6020120"/>
                  </a:cubicBezTo>
                  <a:lnTo>
                    <a:pt x="2326123" y="219395"/>
                  </a:lnTo>
                  <a:cubicBezTo>
                    <a:pt x="2386281" y="68392"/>
                    <a:pt x="2576665" y="-27239"/>
                    <a:pt x="2749184" y="6924"/>
                  </a:cubicBezTo>
                  <a:lnTo>
                    <a:pt x="6023128" y="655513"/>
                  </a:lnTo>
                  <a:close/>
                </a:path>
              </a:pathLst>
            </a:custGeom>
            <a:blipFill>
              <a:blip r:embed="rId2"/>
              <a:stretch>
                <a:fillRect t="-334" b="-334"/>
              </a:stretch>
            </a:blipFill>
          </p:spPr>
        </p:sp>
      </p:grpSp>
      <p:sp>
        <p:nvSpPr>
          <p:cNvPr id="4" name="Freeform 4"/>
          <p:cNvSpPr/>
          <p:nvPr/>
        </p:nvSpPr>
        <p:spPr>
          <a:xfrm>
            <a:off x="7315200" y="7200900"/>
            <a:ext cx="4198776" cy="4114800"/>
          </a:xfrm>
          <a:custGeom>
            <a:avLst/>
            <a:gdLst/>
            <a:ahLst/>
            <a:cxnLst/>
            <a:rect l="l" t="t" r="r" b="b"/>
            <a:pathLst>
              <a:path w="4198776" h="4114800">
                <a:moveTo>
                  <a:pt x="0" y="0"/>
                </a:moveTo>
                <a:lnTo>
                  <a:pt x="4198776" y="0"/>
                </a:lnTo>
                <a:lnTo>
                  <a:pt x="419877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=""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0651946" y="-1233329"/>
            <a:ext cx="4084874" cy="4114800"/>
          </a:xfrm>
          <a:custGeom>
            <a:avLst/>
            <a:gdLst/>
            <a:ahLst/>
            <a:cxnLst/>
            <a:rect l="l" t="t" r="r" b="b"/>
            <a:pathLst>
              <a:path w="4084874" h="4114800">
                <a:moveTo>
                  <a:pt x="0" y="0"/>
                </a:moveTo>
                <a:lnTo>
                  <a:pt x="4084874" y="0"/>
                </a:lnTo>
                <a:lnTo>
                  <a:pt x="4084874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=""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 rot="4197356">
            <a:off x="8716058" y="3202058"/>
            <a:ext cx="4455000" cy="4114800"/>
          </a:xfrm>
          <a:custGeom>
            <a:avLst/>
            <a:gdLst/>
            <a:ahLst/>
            <a:cxnLst/>
            <a:rect l="l" t="t" r="r" b="b"/>
            <a:pathLst>
              <a:path w="4455000" h="4114800">
                <a:moveTo>
                  <a:pt x="0" y="0"/>
                </a:moveTo>
                <a:lnTo>
                  <a:pt x="4455000" y="0"/>
                </a:lnTo>
                <a:lnTo>
                  <a:pt x="44550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=""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grpSp>
        <p:nvGrpSpPr>
          <p:cNvPr id="7" name="Group 7"/>
          <p:cNvGrpSpPr/>
          <p:nvPr/>
        </p:nvGrpSpPr>
        <p:grpSpPr>
          <a:xfrm>
            <a:off x="628650" y="6690786"/>
            <a:ext cx="7951064" cy="1020228"/>
            <a:chOff x="0" y="0"/>
            <a:chExt cx="10601419" cy="1360304"/>
          </a:xfrm>
        </p:grpSpPr>
        <p:sp>
          <p:nvSpPr>
            <p:cNvPr id="8" name="Freeform 8"/>
            <p:cNvSpPr/>
            <p:nvPr/>
          </p:nvSpPr>
          <p:spPr>
            <a:xfrm>
              <a:off x="0" y="246582"/>
              <a:ext cx="1030225" cy="867140"/>
            </a:xfrm>
            <a:custGeom>
              <a:avLst/>
              <a:gdLst/>
              <a:ahLst/>
              <a:cxnLst/>
              <a:rect l="l" t="t" r="r" b="b"/>
              <a:pathLst>
                <a:path w="1030225" h="867140">
                  <a:moveTo>
                    <a:pt x="0" y="0"/>
                  </a:moveTo>
                  <a:lnTo>
                    <a:pt x="1030225" y="0"/>
                  </a:lnTo>
                  <a:lnTo>
                    <a:pt x="1030225" y="867140"/>
                  </a:lnTo>
                  <a:lnTo>
                    <a:pt x="0" y="8671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>
                <a:extLst>
                  <a:ext uri="{96DAC541-7B7A-43D3-8B79-37D633B846F1}">
                    <asvg:svgBlip xmlns=""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9" name="TextBox 9"/>
            <p:cNvSpPr txBox="1"/>
            <p:nvPr/>
          </p:nvSpPr>
          <p:spPr>
            <a:xfrm>
              <a:off x="1336844" y="-9525"/>
              <a:ext cx="9264575" cy="1369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4069"/>
                </a:lnSpc>
              </a:pPr>
              <a:r>
                <a:rPr lang="en-US" sz="3335" b="1">
                  <a:solidFill>
                    <a:srgbClr val="FEFEFE"/>
                  </a:solidFill>
                  <a:latin typeface="Atkinson Hyperlegible Bold"/>
                  <a:ea typeface="Atkinson Hyperlegible Bold"/>
                  <a:cs typeface="Atkinson Hyperlegible Bold"/>
                  <a:sym typeface="Atkinson Hyperlegible Bold"/>
                </a:rPr>
                <a:t>Using C++, OpenCV, JSON/Struct Databases, Dynamic Arrays &amp; GUI</a:t>
              </a:r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772583" y="1419033"/>
            <a:ext cx="8186376" cy="46950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9177"/>
              </a:lnSpc>
            </a:pPr>
            <a:r>
              <a:rPr lang="en-US" sz="7522" b="1" dirty="0">
                <a:solidFill>
                  <a:srgbClr val="76CEE4"/>
                </a:soli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Pseudo E-Challan Generation &amp; Traffic Violation Detection System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-612443" y="8843485"/>
            <a:ext cx="6021050" cy="4148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63"/>
              </a:lnSpc>
            </a:pPr>
            <a:r>
              <a:rPr lang="en-US" sz="2587">
                <a:solidFill>
                  <a:srgbClr val="FEFEF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Proposal by Group-D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14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292304" y="7838922"/>
            <a:ext cx="3975631" cy="4543578"/>
          </a:xfrm>
          <a:custGeom>
            <a:avLst/>
            <a:gdLst/>
            <a:ahLst/>
            <a:cxnLst/>
            <a:rect l="l" t="t" r="r" b="b"/>
            <a:pathLst>
              <a:path w="3975631" h="4543578">
                <a:moveTo>
                  <a:pt x="0" y="0"/>
                </a:moveTo>
                <a:lnTo>
                  <a:pt x="3975631" y="0"/>
                </a:lnTo>
                <a:lnTo>
                  <a:pt x="3975631" y="4543578"/>
                </a:lnTo>
                <a:lnTo>
                  <a:pt x="0" y="454357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0748467" y="2169237"/>
            <a:ext cx="7539533" cy="8173972"/>
            <a:chOff x="0" y="0"/>
            <a:chExt cx="3072652" cy="333121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3072651" cy="3331210"/>
            </a:xfrm>
            <a:custGeom>
              <a:avLst/>
              <a:gdLst/>
              <a:ahLst/>
              <a:cxnLst/>
              <a:rect l="l" t="t" r="r" b="b"/>
              <a:pathLst>
                <a:path w="3072651" h="3331210">
                  <a:moveTo>
                    <a:pt x="3072651" y="3331210"/>
                  </a:moveTo>
                  <a:lnTo>
                    <a:pt x="0" y="3331210"/>
                  </a:lnTo>
                  <a:cubicBezTo>
                    <a:pt x="0" y="1490980"/>
                    <a:pt x="1375255" y="0"/>
                    <a:pt x="3072651" y="0"/>
                  </a:cubicBezTo>
                  <a:lnTo>
                    <a:pt x="3072651" y="3331210"/>
                  </a:lnTo>
                  <a:close/>
                </a:path>
              </a:pathLst>
            </a:custGeom>
            <a:blipFill>
              <a:blip r:embed="rId3"/>
              <a:stretch>
                <a:fillRect l="-7595" r="-7595"/>
              </a:stretch>
            </a:blipFill>
          </p:spPr>
        </p:sp>
      </p:grpSp>
      <p:sp>
        <p:nvSpPr>
          <p:cNvPr id="5" name="Freeform 5"/>
          <p:cNvSpPr/>
          <p:nvPr/>
        </p:nvSpPr>
        <p:spPr>
          <a:xfrm>
            <a:off x="11990813" y="-217734"/>
            <a:ext cx="7315200" cy="3458095"/>
          </a:xfrm>
          <a:custGeom>
            <a:avLst/>
            <a:gdLst/>
            <a:ahLst/>
            <a:cxnLst/>
            <a:rect l="l" t="t" r="r" b="b"/>
            <a:pathLst>
              <a:path w="7315200" h="3458095">
                <a:moveTo>
                  <a:pt x="0" y="0"/>
                </a:moveTo>
                <a:lnTo>
                  <a:pt x="7315200" y="0"/>
                </a:lnTo>
                <a:lnTo>
                  <a:pt x="7315200" y="3458095"/>
                </a:lnTo>
                <a:lnTo>
                  <a:pt x="0" y="345809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=""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1028700" y="1627568"/>
            <a:ext cx="6551075" cy="19799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7699"/>
              </a:lnSpc>
            </a:pPr>
            <a:r>
              <a:rPr lang="en-US" sz="6999" b="1" dirty="0">
                <a:solidFill>
                  <a:srgbClr val="76CEE4"/>
                </a:soli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Group Members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97850" y="4508773"/>
            <a:ext cx="9998750" cy="39113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082"/>
              </a:lnSpc>
            </a:pPr>
            <a:r>
              <a:rPr lang="en-US" sz="4344" b="1" dirty="0">
                <a:solidFill>
                  <a:schemeClr val="bg1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1.Muhammad      </a:t>
            </a:r>
            <a:r>
              <a:rPr lang="en-US" sz="4344" b="1" dirty="0" smtClean="0">
                <a:solidFill>
                  <a:schemeClr val="bg1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			BSSE25002</a:t>
            </a:r>
            <a:endParaRPr lang="en-US" sz="4344" b="1" dirty="0">
              <a:solidFill>
                <a:schemeClr val="bg1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  <a:p>
            <a:pPr algn="l">
              <a:lnSpc>
                <a:spcPts val="6082"/>
              </a:lnSpc>
            </a:pPr>
            <a:r>
              <a:rPr lang="en-US" sz="4344" b="1" dirty="0">
                <a:solidFill>
                  <a:schemeClr val="bg1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2.Minahil </a:t>
            </a:r>
            <a:r>
              <a:rPr lang="en-US" sz="4344" b="1" dirty="0" err="1">
                <a:solidFill>
                  <a:schemeClr val="bg1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Hammad</a:t>
            </a:r>
            <a:r>
              <a:rPr lang="en-US" sz="4344" b="1" dirty="0">
                <a:solidFill>
                  <a:schemeClr val="bg1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          </a:t>
            </a:r>
            <a:r>
              <a:rPr lang="en-US" sz="4344" b="1" dirty="0" smtClean="0">
                <a:solidFill>
                  <a:schemeClr val="bg1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BSSE25045</a:t>
            </a:r>
            <a:endParaRPr lang="en-US" sz="4344" b="1" dirty="0">
              <a:solidFill>
                <a:schemeClr val="bg1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  <a:p>
            <a:pPr algn="l">
              <a:lnSpc>
                <a:spcPts val="6082"/>
              </a:lnSpc>
            </a:pPr>
            <a:r>
              <a:rPr lang="en-US" sz="4344" b="1" dirty="0">
                <a:solidFill>
                  <a:schemeClr val="bg1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3.Syeda </a:t>
            </a:r>
            <a:r>
              <a:rPr lang="en-US" sz="4344" b="1" dirty="0" err="1">
                <a:solidFill>
                  <a:schemeClr val="bg1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Eman</a:t>
            </a:r>
            <a:r>
              <a:rPr lang="en-US" sz="4344" b="1" dirty="0">
                <a:solidFill>
                  <a:schemeClr val="bg1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Fatima      </a:t>
            </a:r>
            <a:r>
              <a:rPr lang="en-US" sz="4344" b="1" dirty="0" smtClean="0">
                <a:solidFill>
                  <a:schemeClr val="bg1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 BSSE25038</a:t>
            </a:r>
            <a:endParaRPr lang="en-US" sz="4344" b="1" dirty="0">
              <a:solidFill>
                <a:schemeClr val="bg1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  <a:p>
            <a:pPr algn="l">
              <a:lnSpc>
                <a:spcPts val="6082"/>
              </a:lnSpc>
            </a:pPr>
            <a:r>
              <a:rPr lang="en-US" sz="4344" b="1" dirty="0">
                <a:solidFill>
                  <a:schemeClr val="bg1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4.Fatima Saeed   </a:t>
            </a:r>
            <a:r>
              <a:rPr lang="en-US" sz="4344" b="1" dirty="0" smtClean="0">
                <a:solidFill>
                  <a:schemeClr val="bg1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			BSSE25013</a:t>
            </a:r>
            <a:endParaRPr lang="en-US" sz="4344" b="1" dirty="0">
              <a:solidFill>
                <a:schemeClr val="bg1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  <a:p>
            <a:pPr algn="l">
              <a:lnSpc>
                <a:spcPts val="6082"/>
              </a:lnSpc>
              <a:spcBef>
                <a:spcPct val="0"/>
              </a:spcBef>
            </a:pPr>
            <a:endParaRPr lang="en-US" sz="4344" b="1" dirty="0">
              <a:solidFill>
                <a:schemeClr val="bg1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7134225" cy="10287000"/>
            <a:chOff x="0" y="0"/>
            <a:chExt cx="1878973" cy="27093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878973" cy="2709333"/>
            </a:xfrm>
            <a:custGeom>
              <a:avLst/>
              <a:gdLst/>
              <a:ahLst/>
              <a:cxnLst/>
              <a:rect l="l" t="t" r="r" b="b"/>
              <a:pathLst>
                <a:path w="1878973" h="2709333">
                  <a:moveTo>
                    <a:pt x="0" y="0"/>
                  </a:moveTo>
                  <a:lnTo>
                    <a:pt x="1878973" y="0"/>
                  </a:lnTo>
                  <a:lnTo>
                    <a:pt x="1878973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EE3C3E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1878973" cy="27569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8298818" y="3510198"/>
            <a:ext cx="8848108" cy="193050"/>
          </a:xfrm>
          <a:custGeom>
            <a:avLst/>
            <a:gdLst/>
            <a:ahLst/>
            <a:cxnLst/>
            <a:rect l="l" t="t" r="r" b="b"/>
            <a:pathLst>
              <a:path w="8848108" h="193050">
                <a:moveTo>
                  <a:pt x="0" y="0"/>
                </a:moveTo>
                <a:lnTo>
                  <a:pt x="8848108" y="0"/>
                </a:lnTo>
                <a:lnTo>
                  <a:pt x="8848108" y="193049"/>
                </a:lnTo>
                <a:lnTo>
                  <a:pt x="0" y="19304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  <a:ln>
            <a:noFill/>
          </a:ln>
        </p:spPr>
      </p:sp>
      <p:sp>
        <p:nvSpPr>
          <p:cNvPr id="6" name="Freeform 6"/>
          <p:cNvSpPr/>
          <p:nvPr/>
        </p:nvSpPr>
        <p:spPr>
          <a:xfrm>
            <a:off x="8298818" y="4998452"/>
            <a:ext cx="8848108" cy="193050"/>
          </a:xfrm>
          <a:custGeom>
            <a:avLst/>
            <a:gdLst/>
            <a:ahLst/>
            <a:cxnLst/>
            <a:rect l="l" t="t" r="r" b="b"/>
            <a:pathLst>
              <a:path w="8848108" h="193050">
                <a:moveTo>
                  <a:pt x="0" y="0"/>
                </a:moveTo>
                <a:lnTo>
                  <a:pt x="8848108" y="0"/>
                </a:lnTo>
                <a:lnTo>
                  <a:pt x="8848108" y="193049"/>
                </a:lnTo>
                <a:lnTo>
                  <a:pt x="0" y="19304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  <a:ln>
            <a:noFill/>
          </a:ln>
        </p:spPr>
      </p:sp>
      <p:sp>
        <p:nvSpPr>
          <p:cNvPr id="7" name="Freeform 7"/>
          <p:cNvSpPr/>
          <p:nvPr/>
        </p:nvSpPr>
        <p:spPr>
          <a:xfrm>
            <a:off x="8373734" y="6482441"/>
            <a:ext cx="8848108" cy="193050"/>
          </a:xfrm>
          <a:custGeom>
            <a:avLst/>
            <a:gdLst/>
            <a:ahLst/>
            <a:cxnLst/>
            <a:rect l="l" t="t" r="r" b="b"/>
            <a:pathLst>
              <a:path w="8848108" h="193050">
                <a:moveTo>
                  <a:pt x="0" y="0"/>
                </a:moveTo>
                <a:lnTo>
                  <a:pt x="8848108" y="0"/>
                </a:lnTo>
                <a:lnTo>
                  <a:pt x="8848108" y="193050"/>
                </a:lnTo>
                <a:lnTo>
                  <a:pt x="0" y="19305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  <a:ln>
            <a:noFill/>
          </a:ln>
        </p:spPr>
      </p:sp>
      <p:sp>
        <p:nvSpPr>
          <p:cNvPr id="8" name="Freeform 8"/>
          <p:cNvSpPr/>
          <p:nvPr/>
        </p:nvSpPr>
        <p:spPr>
          <a:xfrm>
            <a:off x="0" y="0"/>
            <a:ext cx="8040486" cy="10287000"/>
          </a:xfrm>
          <a:custGeom>
            <a:avLst/>
            <a:gdLst/>
            <a:ahLst/>
            <a:cxnLst/>
            <a:rect l="l" t="t" r="r" b="b"/>
            <a:pathLst>
              <a:path w="8040486" h="10287000">
                <a:moveTo>
                  <a:pt x="0" y="0"/>
                </a:moveTo>
                <a:lnTo>
                  <a:pt x="8040486" y="0"/>
                </a:lnTo>
                <a:lnTo>
                  <a:pt x="8040486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75459" r="-59043"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0" y="7750615"/>
            <a:ext cx="8110532" cy="2536385"/>
          </a:xfrm>
          <a:custGeom>
            <a:avLst/>
            <a:gdLst/>
            <a:ahLst/>
            <a:cxnLst/>
            <a:rect l="l" t="t" r="r" b="b"/>
            <a:pathLst>
              <a:path w="8110532" h="2536385">
                <a:moveTo>
                  <a:pt x="0" y="0"/>
                </a:moveTo>
                <a:lnTo>
                  <a:pt x="8110532" y="0"/>
                </a:lnTo>
                <a:lnTo>
                  <a:pt x="8110532" y="2536385"/>
                </a:lnTo>
                <a:lnTo>
                  <a:pt x="0" y="253638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=""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 rot="-10800000">
            <a:off x="0" y="0"/>
            <a:ext cx="8110532" cy="2536385"/>
          </a:xfrm>
          <a:custGeom>
            <a:avLst/>
            <a:gdLst/>
            <a:ahLst/>
            <a:cxnLst/>
            <a:rect l="l" t="t" r="r" b="b"/>
            <a:pathLst>
              <a:path w="8110532" h="2536385">
                <a:moveTo>
                  <a:pt x="0" y="0"/>
                </a:moveTo>
                <a:lnTo>
                  <a:pt x="8110532" y="0"/>
                </a:lnTo>
                <a:lnTo>
                  <a:pt x="8110532" y="2536385"/>
                </a:lnTo>
                <a:lnTo>
                  <a:pt x="0" y="253638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=""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8298818" y="2462411"/>
            <a:ext cx="8923024" cy="986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037"/>
              </a:lnSpc>
            </a:pPr>
            <a:r>
              <a:rPr lang="en-US" sz="2691" b="1">
                <a:solidFill>
                  <a:srgbClr val="1B2A4C"/>
                </a:soli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Traffic violations often go unnoticed due to limited manual monitoring.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298818" y="3956227"/>
            <a:ext cx="8923024" cy="986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037"/>
              </a:lnSpc>
            </a:pPr>
            <a:r>
              <a:rPr lang="en-US" sz="2691" b="1">
                <a:solidFill>
                  <a:srgbClr val="1B2A4C"/>
                </a:soli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Existing challan systems rely heavily on manual entry and physical verification.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309966" y="5440217"/>
            <a:ext cx="8923024" cy="986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037"/>
              </a:lnSpc>
            </a:pPr>
            <a:r>
              <a:rPr lang="en-US" sz="2691" b="1">
                <a:solidFill>
                  <a:srgbClr val="1B2A4C"/>
                </a:soli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Lack of automated plate detection causes delays in issuing challans.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28700" y="4258947"/>
            <a:ext cx="5329295" cy="23939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9349"/>
              </a:lnSpc>
            </a:pPr>
            <a:r>
              <a:rPr lang="en-US" sz="8499" b="1" dirty="0">
                <a:solidFill>
                  <a:srgbClr val="76CEE4"/>
                </a:soli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Problem Statement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8336276" y="6673376"/>
            <a:ext cx="8923024" cy="1488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037"/>
              </a:lnSpc>
            </a:pPr>
            <a:r>
              <a:rPr lang="en-US" sz="2691" b="1">
                <a:solidFill>
                  <a:srgbClr val="1B2A4C"/>
                </a:soli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There is a need for a lightweight, file-based prototype that simulates real-world traffic enforcement workflows.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345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2282481">
            <a:off x="5450443" y="7142461"/>
            <a:ext cx="2296391" cy="2950970"/>
          </a:xfrm>
          <a:custGeom>
            <a:avLst/>
            <a:gdLst/>
            <a:ahLst/>
            <a:cxnLst/>
            <a:rect l="l" t="t" r="r" b="b"/>
            <a:pathLst>
              <a:path w="2296391" h="2950970">
                <a:moveTo>
                  <a:pt x="0" y="0"/>
                </a:moveTo>
                <a:lnTo>
                  <a:pt x="2296391" y="0"/>
                </a:lnTo>
                <a:lnTo>
                  <a:pt x="2296391" y="2950970"/>
                </a:lnTo>
                <a:lnTo>
                  <a:pt x="0" y="295097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-5400000">
            <a:off x="-4422095" y="1745057"/>
            <a:ext cx="9717488" cy="7420627"/>
          </a:xfrm>
          <a:custGeom>
            <a:avLst/>
            <a:gdLst/>
            <a:ahLst/>
            <a:cxnLst/>
            <a:rect l="l" t="t" r="r" b="b"/>
            <a:pathLst>
              <a:path w="9717488" h="7420627">
                <a:moveTo>
                  <a:pt x="0" y="0"/>
                </a:moveTo>
                <a:lnTo>
                  <a:pt x="9717488" y="0"/>
                </a:lnTo>
                <a:lnTo>
                  <a:pt x="9717488" y="7420627"/>
                </a:lnTo>
                <a:lnTo>
                  <a:pt x="0" y="742062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=""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287173" y="1460565"/>
            <a:ext cx="7719579" cy="7719579"/>
            <a:chOff x="0" y="0"/>
            <a:chExt cx="6350000" cy="6350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352540" cy="6351270"/>
            </a:xfrm>
            <a:custGeom>
              <a:avLst/>
              <a:gdLst/>
              <a:ahLst/>
              <a:cxnLst/>
              <a:rect l="l" t="t" r="r" b="b"/>
              <a:pathLst>
                <a:path w="6352540" h="6351270">
                  <a:moveTo>
                    <a:pt x="5472430" y="2223770"/>
                  </a:moveTo>
                  <a:cubicBezTo>
                    <a:pt x="5795010" y="1845310"/>
                    <a:pt x="5772150" y="1281430"/>
                    <a:pt x="5420360" y="929640"/>
                  </a:cubicBezTo>
                  <a:cubicBezTo>
                    <a:pt x="5068570" y="577850"/>
                    <a:pt x="4505960" y="554990"/>
                    <a:pt x="4126230" y="877570"/>
                  </a:cubicBezTo>
                  <a:cubicBezTo>
                    <a:pt x="4086860" y="382270"/>
                    <a:pt x="3672840" y="0"/>
                    <a:pt x="3175000" y="0"/>
                  </a:cubicBezTo>
                  <a:cubicBezTo>
                    <a:pt x="2677160" y="0"/>
                    <a:pt x="2263140" y="382270"/>
                    <a:pt x="2223770" y="878840"/>
                  </a:cubicBezTo>
                  <a:cubicBezTo>
                    <a:pt x="1845310" y="556260"/>
                    <a:pt x="1281430" y="579120"/>
                    <a:pt x="929640" y="930910"/>
                  </a:cubicBezTo>
                  <a:cubicBezTo>
                    <a:pt x="577850" y="1282700"/>
                    <a:pt x="554990" y="1845310"/>
                    <a:pt x="877570" y="2225040"/>
                  </a:cubicBezTo>
                  <a:cubicBezTo>
                    <a:pt x="382270" y="2263140"/>
                    <a:pt x="0" y="2677160"/>
                    <a:pt x="0" y="3175000"/>
                  </a:cubicBezTo>
                  <a:cubicBezTo>
                    <a:pt x="0" y="3672840"/>
                    <a:pt x="382270" y="4086860"/>
                    <a:pt x="878840" y="4126230"/>
                  </a:cubicBezTo>
                  <a:cubicBezTo>
                    <a:pt x="556260" y="4504690"/>
                    <a:pt x="579120" y="5068570"/>
                    <a:pt x="930910" y="5420360"/>
                  </a:cubicBezTo>
                  <a:cubicBezTo>
                    <a:pt x="1282700" y="5772150"/>
                    <a:pt x="1845310" y="5795010"/>
                    <a:pt x="2225040" y="5472430"/>
                  </a:cubicBezTo>
                  <a:cubicBezTo>
                    <a:pt x="2264410" y="5969000"/>
                    <a:pt x="2678430" y="6351270"/>
                    <a:pt x="3176270" y="6351270"/>
                  </a:cubicBezTo>
                  <a:cubicBezTo>
                    <a:pt x="3674110" y="6351270"/>
                    <a:pt x="4088130" y="5969000"/>
                    <a:pt x="4127500" y="5473700"/>
                  </a:cubicBezTo>
                  <a:cubicBezTo>
                    <a:pt x="4505960" y="5796280"/>
                    <a:pt x="5069840" y="5773420"/>
                    <a:pt x="5421630" y="5421630"/>
                  </a:cubicBezTo>
                  <a:cubicBezTo>
                    <a:pt x="5773420" y="5069840"/>
                    <a:pt x="5796280" y="4507230"/>
                    <a:pt x="5473700" y="4127500"/>
                  </a:cubicBezTo>
                  <a:cubicBezTo>
                    <a:pt x="5970270" y="4088130"/>
                    <a:pt x="6352540" y="3674110"/>
                    <a:pt x="6352540" y="3176270"/>
                  </a:cubicBezTo>
                  <a:cubicBezTo>
                    <a:pt x="6350000" y="2677160"/>
                    <a:pt x="5967730" y="2263140"/>
                    <a:pt x="5472430" y="2223770"/>
                  </a:cubicBezTo>
                  <a:close/>
                </a:path>
              </a:pathLst>
            </a:custGeom>
            <a:blipFill>
              <a:blip r:embed="rId6"/>
              <a:stretch>
                <a:fillRect t="-9" b="-9"/>
              </a:stretch>
            </a:blipFill>
          </p:spPr>
        </p:sp>
      </p:grpSp>
      <p:sp>
        <p:nvSpPr>
          <p:cNvPr id="6" name="Freeform 6"/>
          <p:cNvSpPr/>
          <p:nvPr/>
        </p:nvSpPr>
        <p:spPr>
          <a:xfrm>
            <a:off x="12630115" y="648178"/>
            <a:ext cx="7315200" cy="1050729"/>
          </a:xfrm>
          <a:custGeom>
            <a:avLst/>
            <a:gdLst/>
            <a:ahLst/>
            <a:cxnLst/>
            <a:rect l="l" t="t" r="r" b="b"/>
            <a:pathLst>
              <a:path w="7315200" h="1050729">
                <a:moveTo>
                  <a:pt x="0" y="0"/>
                </a:moveTo>
                <a:lnTo>
                  <a:pt x="7315200" y="0"/>
                </a:lnTo>
                <a:lnTo>
                  <a:pt x="7315200" y="1050728"/>
                </a:lnTo>
                <a:lnTo>
                  <a:pt x="0" y="1050728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=""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3684468" y="9235052"/>
            <a:ext cx="7315200" cy="1050729"/>
          </a:xfrm>
          <a:custGeom>
            <a:avLst/>
            <a:gdLst/>
            <a:ahLst/>
            <a:cxnLst/>
            <a:rect l="l" t="t" r="r" b="b"/>
            <a:pathLst>
              <a:path w="7315200" h="1050729">
                <a:moveTo>
                  <a:pt x="0" y="0"/>
                </a:moveTo>
                <a:lnTo>
                  <a:pt x="7315200" y="0"/>
                </a:lnTo>
                <a:lnTo>
                  <a:pt x="7315200" y="1050728"/>
                </a:lnTo>
                <a:lnTo>
                  <a:pt x="0" y="1050728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=""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8363178" y="2422626"/>
            <a:ext cx="8848108" cy="193050"/>
          </a:xfrm>
          <a:custGeom>
            <a:avLst/>
            <a:gdLst/>
            <a:ahLst/>
            <a:cxnLst/>
            <a:rect l="l" t="t" r="r" b="b"/>
            <a:pathLst>
              <a:path w="8848108" h="193050">
                <a:moveTo>
                  <a:pt x="0" y="0"/>
                </a:moveTo>
                <a:lnTo>
                  <a:pt x="8848108" y="0"/>
                </a:lnTo>
                <a:lnTo>
                  <a:pt x="8848108" y="193050"/>
                </a:lnTo>
                <a:lnTo>
                  <a:pt x="0" y="19305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=""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8363178" y="3770808"/>
            <a:ext cx="8848108" cy="193050"/>
          </a:xfrm>
          <a:custGeom>
            <a:avLst/>
            <a:gdLst/>
            <a:ahLst/>
            <a:cxnLst/>
            <a:rect l="l" t="t" r="r" b="b"/>
            <a:pathLst>
              <a:path w="8848108" h="193050">
                <a:moveTo>
                  <a:pt x="0" y="0"/>
                </a:moveTo>
                <a:lnTo>
                  <a:pt x="8848108" y="0"/>
                </a:lnTo>
                <a:lnTo>
                  <a:pt x="8848108" y="193049"/>
                </a:lnTo>
                <a:lnTo>
                  <a:pt x="0" y="193049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=""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8363178" y="3935282"/>
            <a:ext cx="8923024" cy="1488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037"/>
              </a:lnSpc>
            </a:pPr>
            <a:r>
              <a:rPr lang="en-US" sz="2691" b="1">
                <a:solidFill>
                  <a:srgbClr val="FCFCFC"/>
                </a:soli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Auto-generate challans and maintain them in file-based pseudo databases (JSON, structs, 2D dynamic arrays).</a:t>
            </a:r>
          </a:p>
        </p:txBody>
      </p:sp>
      <p:sp>
        <p:nvSpPr>
          <p:cNvPr id="11" name="Freeform 11"/>
          <p:cNvSpPr/>
          <p:nvPr/>
        </p:nvSpPr>
        <p:spPr>
          <a:xfrm>
            <a:off x="8438094" y="5344982"/>
            <a:ext cx="8848108" cy="193050"/>
          </a:xfrm>
          <a:custGeom>
            <a:avLst/>
            <a:gdLst/>
            <a:ahLst/>
            <a:cxnLst/>
            <a:rect l="l" t="t" r="r" b="b"/>
            <a:pathLst>
              <a:path w="8848108" h="193050">
                <a:moveTo>
                  <a:pt x="0" y="0"/>
                </a:moveTo>
                <a:lnTo>
                  <a:pt x="8848108" y="0"/>
                </a:lnTo>
                <a:lnTo>
                  <a:pt x="8848108" y="193050"/>
                </a:lnTo>
                <a:lnTo>
                  <a:pt x="0" y="19305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=""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8363178" y="6581667"/>
            <a:ext cx="8848108" cy="193050"/>
          </a:xfrm>
          <a:custGeom>
            <a:avLst/>
            <a:gdLst/>
            <a:ahLst/>
            <a:cxnLst/>
            <a:rect l="l" t="t" r="r" b="b"/>
            <a:pathLst>
              <a:path w="8848108" h="193050">
                <a:moveTo>
                  <a:pt x="0" y="0"/>
                </a:moveTo>
                <a:lnTo>
                  <a:pt x="8848108" y="0"/>
                </a:lnTo>
                <a:lnTo>
                  <a:pt x="8848108" y="193049"/>
                </a:lnTo>
                <a:lnTo>
                  <a:pt x="0" y="193049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=""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8325720" y="7932651"/>
            <a:ext cx="8848108" cy="193050"/>
          </a:xfrm>
          <a:custGeom>
            <a:avLst/>
            <a:gdLst/>
            <a:ahLst/>
            <a:cxnLst/>
            <a:rect l="l" t="t" r="r" b="b"/>
            <a:pathLst>
              <a:path w="8848108" h="193050">
                <a:moveTo>
                  <a:pt x="0" y="0"/>
                </a:moveTo>
                <a:lnTo>
                  <a:pt x="8848108" y="0"/>
                </a:lnTo>
                <a:lnTo>
                  <a:pt x="8848108" y="193049"/>
                </a:lnTo>
                <a:lnTo>
                  <a:pt x="0" y="193049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=""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</p:sp>
      <p:sp>
        <p:nvSpPr>
          <p:cNvPr id="14" name="TextBox 14"/>
          <p:cNvSpPr txBox="1"/>
          <p:nvPr/>
        </p:nvSpPr>
        <p:spPr>
          <a:xfrm>
            <a:off x="8363178" y="1374840"/>
            <a:ext cx="8923024" cy="986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037"/>
              </a:lnSpc>
            </a:pPr>
            <a:r>
              <a:rPr lang="en-US" sz="2691" b="1">
                <a:solidFill>
                  <a:srgbClr val="FCFCFC"/>
                </a:soli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Build a fully automated, pseudo e-challan system using C++ and OpenCV.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8363178" y="2727173"/>
            <a:ext cx="8923024" cy="986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037"/>
              </a:lnSpc>
            </a:pPr>
            <a:r>
              <a:rPr lang="en-US" sz="2691" b="1">
                <a:solidFill>
                  <a:srgbClr val="FCFCFC"/>
                </a:soli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Detect traffic violations through camera feeds and extract number plates.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8400636" y="5538032"/>
            <a:ext cx="8923024" cy="986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037"/>
              </a:lnSpc>
            </a:pPr>
            <a:r>
              <a:rPr lang="en-US" sz="2691" b="1">
                <a:solidFill>
                  <a:srgbClr val="FCFCFC"/>
                </a:soli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Integrate a pseudo-bank for simulated payment management.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438094" y="6889016"/>
            <a:ext cx="8923024" cy="986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037"/>
              </a:lnSpc>
            </a:pPr>
            <a:r>
              <a:rPr lang="en-US" sz="2691" b="1">
                <a:solidFill>
                  <a:srgbClr val="FCFCFC"/>
                </a:soli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Provide a GUI interface for user interaction, challan viewing, and status updates.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8325720" y="8240000"/>
            <a:ext cx="8923024" cy="986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037"/>
              </a:lnSpc>
            </a:pPr>
            <a:r>
              <a:rPr lang="en-US" sz="2691" b="1">
                <a:solidFill>
                  <a:srgbClr val="FCFCFC"/>
                </a:soli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Send email notifications to registered vehicle owners after challan generation.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642545" y="8059027"/>
            <a:ext cx="4167845" cy="4114800"/>
          </a:xfrm>
          <a:custGeom>
            <a:avLst/>
            <a:gdLst/>
            <a:ahLst/>
            <a:cxnLst/>
            <a:rect l="l" t="t" r="r" b="b"/>
            <a:pathLst>
              <a:path w="4167845" h="4114800">
                <a:moveTo>
                  <a:pt x="0" y="0"/>
                </a:moveTo>
                <a:lnTo>
                  <a:pt x="4167846" y="0"/>
                </a:lnTo>
                <a:lnTo>
                  <a:pt x="416784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632978" y="4987932"/>
            <a:ext cx="4211828" cy="6800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849"/>
              </a:lnSpc>
            </a:pPr>
            <a:r>
              <a:rPr lang="en-US" sz="1899">
                <a:solidFill>
                  <a:srgbClr val="00143D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Real-time or image-based vehicle detection using OpenCV.</a:t>
            </a:r>
          </a:p>
        </p:txBody>
      </p:sp>
      <p:sp>
        <p:nvSpPr>
          <p:cNvPr id="4" name="Freeform 4"/>
          <p:cNvSpPr/>
          <p:nvPr/>
        </p:nvSpPr>
        <p:spPr>
          <a:xfrm>
            <a:off x="-1928932" y="-1880689"/>
            <a:ext cx="4167845" cy="4114800"/>
          </a:xfrm>
          <a:custGeom>
            <a:avLst/>
            <a:gdLst/>
            <a:ahLst/>
            <a:cxnLst/>
            <a:rect l="l" t="t" r="r" b="b"/>
            <a:pathLst>
              <a:path w="4167845" h="4114800">
                <a:moveTo>
                  <a:pt x="0" y="0"/>
                </a:moveTo>
                <a:lnTo>
                  <a:pt x="4167845" y="0"/>
                </a:lnTo>
                <a:lnTo>
                  <a:pt x="4167845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5458072" y="-1801421"/>
            <a:ext cx="4167845" cy="4114800"/>
          </a:xfrm>
          <a:custGeom>
            <a:avLst/>
            <a:gdLst/>
            <a:ahLst/>
            <a:cxnLst/>
            <a:rect l="l" t="t" r="r" b="b"/>
            <a:pathLst>
              <a:path w="4167845" h="4114800">
                <a:moveTo>
                  <a:pt x="0" y="0"/>
                </a:moveTo>
                <a:lnTo>
                  <a:pt x="4167845" y="0"/>
                </a:lnTo>
                <a:lnTo>
                  <a:pt x="4167845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5561718" y="7858045"/>
            <a:ext cx="4167845" cy="4114800"/>
          </a:xfrm>
          <a:custGeom>
            <a:avLst/>
            <a:gdLst/>
            <a:ahLst/>
            <a:cxnLst/>
            <a:rect l="l" t="t" r="r" b="b"/>
            <a:pathLst>
              <a:path w="4167845" h="4114800">
                <a:moveTo>
                  <a:pt x="0" y="0"/>
                </a:moveTo>
                <a:lnTo>
                  <a:pt x="4167845" y="0"/>
                </a:lnTo>
                <a:lnTo>
                  <a:pt x="4167845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4844806" y="4987932"/>
            <a:ext cx="4211828" cy="6800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849"/>
              </a:lnSpc>
            </a:pPr>
            <a:r>
              <a:rPr lang="en-US" sz="1899">
                <a:solidFill>
                  <a:srgbClr val="00143D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Automatic number plate extraction using contouring &amp; segmentation.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054793" y="5023901"/>
            <a:ext cx="4211828" cy="10325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849"/>
              </a:lnSpc>
            </a:pPr>
            <a:r>
              <a:rPr lang="en-US" sz="1899">
                <a:solidFill>
                  <a:srgbClr val="00143D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Violation detection engine (speeding, signal jump, lane crossing — rule-based).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843885" y="7364075"/>
            <a:ext cx="4211828" cy="6800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849"/>
              </a:lnSpc>
            </a:pPr>
            <a:r>
              <a:rPr lang="en-US" sz="1899">
                <a:solidFill>
                  <a:srgbClr val="00143D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Email notification module to alert owners with challan details.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3265700" y="7364075"/>
            <a:ext cx="4211828" cy="10325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849"/>
              </a:lnSpc>
            </a:pPr>
            <a:r>
              <a:rPr lang="en-US" sz="1899">
                <a:solidFill>
                  <a:srgbClr val="00143D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Pseudo-bank system that stores balances, processes payments, and updates records.</a:t>
            </a:r>
          </a:p>
        </p:txBody>
      </p:sp>
      <p:sp>
        <p:nvSpPr>
          <p:cNvPr id="11" name="AutoShape 11"/>
          <p:cNvSpPr/>
          <p:nvPr/>
        </p:nvSpPr>
        <p:spPr>
          <a:xfrm>
            <a:off x="4782755" y="4195491"/>
            <a:ext cx="6743" cy="1860920"/>
          </a:xfrm>
          <a:prstGeom prst="line">
            <a:avLst/>
          </a:prstGeom>
          <a:ln w="76200" cap="flat">
            <a:solidFill>
              <a:srgbClr val="AA6FEB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2" name="AutoShape 12"/>
          <p:cNvSpPr/>
          <p:nvPr/>
        </p:nvSpPr>
        <p:spPr>
          <a:xfrm>
            <a:off x="9050437" y="4230726"/>
            <a:ext cx="6743" cy="1860920"/>
          </a:xfrm>
          <a:prstGeom prst="line">
            <a:avLst/>
          </a:prstGeom>
          <a:ln w="76200" cap="flat">
            <a:solidFill>
              <a:srgbClr val="AA6FEB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3" name="AutoShape 13"/>
          <p:cNvSpPr/>
          <p:nvPr/>
        </p:nvSpPr>
        <p:spPr>
          <a:xfrm>
            <a:off x="13268589" y="4230865"/>
            <a:ext cx="6743" cy="1860920"/>
          </a:xfrm>
          <a:prstGeom prst="line">
            <a:avLst/>
          </a:prstGeom>
          <a:ln w="76200" cap="flat">
            <a:solidFill>
              <a:srgbClr val="AA6FEB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4" name="AutoShape 14"/>
          <p:cNvSpPr/>
          <p:nvPr/>
        </p:nvSpPr>
        <p:spPr>
          <a:xfrm>
            <a:off x="4997206" y="6570900"/>
            <a:ext cx="6743" cy="1860920"/>
          </a:xfrm>
          <a:prstGeom prst="line">
            <a:avLst/>
          </a:prstGeom>
          <a:ln w="76200" cap="flat">
            <a:solidFill>
              <a:srgbClr val="AA6FEB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5" name="AutoShape 15"/>
          <p:cNvSpPr/>
          <p:nvPr/>
        </p:nvSpPr>
        <p:spPr>
          <a:xfrm>
            <a:off x="8918438" y="6606869"/>
            <a:ext cx="6743" cy="1860920"/>
          </a:xfrm>
          <a:prstGeom prst="line">
            <a:avLst/>
          </a:prstGeom>
          <a:ln w="76200" cap="flat">
            <a:solidFill>
              <a:srgbClr val="AA6FEB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6" name="AutoShape 16"/>
          <p:cNvSpPr/>
          <p:nvPr/>
        </p:nvSpPr>
        <p:spPr>
          <a:xfrm>
            <a:off x="13390258" y="6607007"/>
            <a:ext cx="6743" cy="1860920"/>
          </a:xfrm>
          <a:prstGeom prst="line">
            <a:avLst/>
          </a:prstGeom>
          <a:ln w="76200" cap="flat">
            <a:solidFill>
              <a:srgbClr val="AA6FEB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7" name="TextBox 17"/>
          <p:cNvSpPr txBox="1"/>
          <p:nvPr/>
        </p:nvSpPr>
        <p:spPr>
          <a:xfrm>
            <a:off x="2095604" y="4166044"/>
            <a:ext cx="1286577" cy="388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120"/>
              </a:lnSpc>
            </a:pPr>
            <a:r>
              <a:rPr lang="en-US" sz="2400">
                <a:solidFill>
                  <a:srgbClr val="FEFEF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Feature 1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2090585" y="2524555"/>
            <a:ext cx="14106830" cy="984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7699"/>
              </a:lnSpc>
            </a:pPr>
            <a:r>
              <a:rPr lang="en-US" sz="6999" b="1">
                <a:gradFill>
                  <a:gsLst>
                    <a:gs pos="0">
                      <a:srgbClr val="FF5757">
                        <a:alpha val="100000"/>
                      </a:srgbClr>
                    </a:gs>
                    <a:gs pos="100000">
                      <a:srgbClr val="8C52FF">
                        <a:alpha val="100000"/>
                      </a:srgbClr>
                    </a:gs>
                  </a:gsLst>
                  <a:lin ang="0"/>
                </a:gra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Main Features to Include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313498" y="4166044"/>
            <a:ext cx="1274445" cy="388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120"/>
              </a:lnSpc>
            </a:pPr>
            <a:r>
              <a:rPr lang="en-US" sz="2400">
                <a:solidFill>
                  <a:srgbClr val="FEFEF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Feature 2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0519674" y="4202013"/>
            <a:ext cx="1282065" cy="388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120"/>
              </a:lnSpc>
            </a:pPr>
            <a:r>
              <a:rPr lang="en-US" sz="2400">
                <a:solidFill>
                  <a:srgbClr val="FEFEF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Feature 3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3352158" y="4987932"/>
            <a:ext cx="4211828" cy="6800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849"/>
              </a:lnSpc>
            </a:pPr>
            <a:r>
              <a:rPr lang="en-US" sz="1899">
                <a:solidFill>
                  <a:srgbClr val="00143D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E-Challan auto-generation with time, location, image proof &amp; violation type.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4725430" y="4166044"/>
            <a:ext cx="1294209" cy="388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120"/>
              </a:lnSpc>
            </a:pPr>
            <a:r>
              <a:rPr lang="en-US" sz="2400">
                <a:solidFill>
                  <a:srgbClr val="FEFEF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Feature 4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32057" y="7364075"/>
            <a:ext cx="4211828" cy="6800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849"/>
              </a:lnSpc>
            </a:pPr>
            <a:r>
              <a:rPr lang="en-US" sz="1899">
                <a:solidFill>
                  <a:srgbClr val="00143D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Pseudo-databases implemented using JSON, structs, and dynamic 2D arrays.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2094683" y="6542187"/>
            <a:ext cx="1286577" cy="388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120"/>
              </a:lnSpc>
            </a:pPr>
            <a:r>
              <a:rPr lang="en-US" sz="2400">
                <a:solidFill>
                  <a:srgbClr val="FEFEF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Feature 5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6305135" y="6542187"/>
            <a:ext cx="1289328" cy="388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120"/>
              </a:lnSpc>
            </a:pPr>
            <a:r>
              <a:rPr lang="en-US" sz="2400">
                <a:solidFill>
                  <a:srgbClr val="FEFEF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Feature 6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9053872" y="7400044"/>
            <a:ext cx="4211828" cy="6800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849"/>
              </a:lnSpc>
            </a:pPr>
            <a:r>
              <a:rPr lang="en-US" sz="1899">
                <a:solidFill>
                  <a:srgbClr val="00143D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GUI dashboard for registration, challan info, payment, and user management.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0528516" y="6578156"/>
            <a:ext cx="1262539" cy="388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120"/>
              </a:lnSpc>
            </a:pPr>
            <a:r>
              <a:rPr lang="en-US" sz="2400">
                <a:solidFill>
                  <a:srgbClr val="FEFEF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Feature 7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4724330" y="6542187"/>
            <a:ext cx="1294567" cy="388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120"/>
              </a:lnSpc>
            </a:pPr>
            <a:r>
              <a:rPr lang="en-US" sz="2400">
                <a:solidFill>
                  <a:srgbClr val="FEFEF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Feature 8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14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3136882" y="5152022"/>
            <a:ext cx="4415506" cy="449579"/>
          </a:xfrm>
          <a:custGeom>
            <a:avLst/>
            <a:gdLst/>
            <a:ahLst/>
            <a:cxnLst/>
            <a:rect l="l" t="t" r="r" b="b"/>
            <a:pathLst>
              <a:path w="4415506" h="449579">
                <a:moveTo>
                  <a:pt x="0" y="0"/>
                </a:moveTo>
                <a:lnTo>
                  <a:pt x="4415506" y="0"/>
                </a:lnTo>
                <a:lnTo>
                  <a:pt x="4415506" y="449579"/>
                </a:lnTo>
                <a:lnTo>
                  <a:pt x="0" y="44957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-281202" y="63341"/>
            <a:ext cx="4224148" cy="4114800"/>
          </a:xfrm>
          <a:custGeom>
            <a:avLst/>
            <a:gdLst/>
            <a:ahLst/>
            <a:cxnLst/>
            <a:rect l="l" t="t" r="r" b="b"/>
            <a:pathLst>
              <a:path w="4224148" h="4114800">
                <a:moveTo>
                  <a:pt x="0" y="0"/>
                </a:moveTo>
                <a:lnTo>
                  <a:pt x="4224148" y="0"/>
                </a:lnTo>
                <a:lnTo>
                  <a:pt x="422414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=""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928141" y="1365259"/>
            <a:ext cx="9326880" cy="3778241"/>
            <a:chOff x="0" y="0"/>
            <a:chExt cx="13938250" cy="564626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3938250" cy="5646269"/>
            </a:xfrm>
            <a:custGeom>
              <a:avLst/>
              <a:gdLst/>
              <a:ahLst/>
              <a:cxnLst/>
              <a:rect l="l" t="t" r="r" b="b"/>
              <a:pathLst>
                <a:path w="13938250" h="5646269">
                  <a:moveTo>
                    <a:pt x="12528550" y="5646269"/>
                  </a:moveTo>
                  <a:lnTo>
                    <a:pt x="1410970" y="5646269"/>
                  </a:lnTo>
                  <a:cubicBezTo>
                    <a:pt x="631190" y="5646269"/>
                    <a:pt x="0" y="5085030"/>
                    <a:pt x="0" y="4391668"/>
                  </a:cubicBezTo>
                  <a:lnTo>
                    <a:pt x="0" y="4353273"/>
                  </a:lnTo>
                  <a:cubicBezTo>
                    <a:pt x="0" y="1811323"/>
                    <a:pt x="2317750" y="0"/>
                    <a:pt x="5175250" y="0"/>
                  </a:cubicBezTo>
                  <a:lnTo>
                    <a:pt x="8763000" y="0"/>
                  </a:lnTo>
                  <a:cubicBezTo>
                    <a:pt x="11621770" y="0"/>
                    <a:pt x="13938250" y="1811323"/>
                    <a:pt x="13938250" y="4353273"/>
                  </a:cubicBezTo>
                  <a:lnTo>
                    <a:pt x="13938250" y="4391668"/>
                  </a:lnTo>
                  <a:cubicBezTo>
                    <a:pt x="13938250" y="5085030"/>
                    <a:pt x="13307061" y="5646269"/>
                    <a:pt x="12528550" y="5646269"/>
                  </a:cubicBezTo>
                  <a:close/>
                </a:path>
              </a:pathLst>
            </a:custGeom>
            <a:blipFill>
              <a:blip r:embed="rId6"/>
              <a:stretch>
                <a:fillRect t="-25493" b="-25493"/>
              </a:stretch>
            </a:blipFill>
          </p:spPr>
        </p:sp>
      </p:grpSp>
      <p:sp>
        <p:nvSpPr>
          <p:cNvPr id="6" name="Freeform 6"/>
          <p:cNvSpPr/>
          <p:nvPr/>
        </p:nvSpPr>
        <p:spPr>
          <a:xfrm>
            <a:off x="8357369" y="1314555"/>
            <a:ext cx="1768279" cy="1758634"/>
          </a:xfrm>
          <a:custGeom>
            <a:avLst/>
            <a:gdLst/>
            <a:ahLst/>
            <a:cxnLst/>
            <a:rect l="l" t="t" r="r" b="b"/>
            <a:pathLst>
              <a:path w="1768279" h="1758634">
                <a:moveTo>
                  <a:pt x="0" y="0"/>
                </a:moveTo>
                <a:lnTo>
                  <a:pt x="1768279" y="0"/>
                </a:lnTo>
                <a:lnTo>
                  <a:pt x="1768279" y="1758634"/>
                </a:lnTo>
                <a:lnTo>
                  <a:pt x="0" y="175863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=""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11970676" y="1753208"/>
            <a:ext cx="6105997" cy="3141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56"/>
              </a:lnSpc>
            </a:pPr>
            <a:r>
              <a:rPr lang="en-US" sz="2254">
                <a:solidFill>
                  <a:srgbClr val="FEFEF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• Live camera feed or uploaded image.</a:t>
            </a:r>
          </a:p>
          <a:p>
            <a:pPr algn="l">
              <a:lnSpc>
                <a:spcPts val="3156"/>
              </a:lnSpc>
            </a:pPr>
            <a:r>
              <a:rPr lang="en-US" sz="2254">
                <a:solidFill>
                  <a:srgbClr val="FEFEF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• Vehicle number plate text detected via OpenCV.</a:t>
            </a:r>
          </a:p>
          <a:p>
            <a:pPr algn="l">
              <a:lnSpc>
                <a:spcPts val="3156"/>
              </a:lnSpc>
            </a:pPr>
            <a:r>
              <a:rPr lang="en-US" sz="2254">
                <a:solidFill>
                  <a:srgbClr val="FEFEF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• User inputs for payments, registration updates, and new entries.</a:t>
            </a:r>
          </a:p>
          <a:p>
            <a:pPr algn="l">
              <a:lnSpc>
                <a:spcPts val="3156"/>
              </a:lnSpc>
            </a:pPr>
            <a:r>
              <a:rPr lang="en-US" sz="2254">
                <a:solidFill>
                  <a:srgbClr val="FEFEF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• Administrator controls for adding violations or updating databases.</a:t>
            </a:r>
          </a:p>
          <a:p>
            <a:pPr algn="l">
              <a:lnSpc>
                <a:spcPts val="3156"/>
              </a:lnSpc>
            </a:pPr>
            <a:endParaRPr lang="en-US" sz="2254">
              <a:solidFill>
                <a:srgbClr val="FEFEFE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12494961" y="5376811"/>
            <a:ext cx="5057427" cy="0"/>
          </a:xfrm>
          <a:prstGeom prst="line">
            <a:avLst/>
          </a:prstGeom>
          <a:ln w="85725" cap="flat">
            <a:solidFill>
              <a:srgbClr val="D7A33D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9" name="TextBox 9"/>
          <p:cNvSpPr txBox="1"/>
          <p:nvPr/>
        </p:nvSpPr>
        <p:spPr>
          <a:xfrm>
            <a:off x="1028700" y="5814659"/>
            <a:ext cx="10327146" cy="9204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7120"/>
              </a:lnSpc>
            </a:pPr>
            <a:r>
              <a:rPr lang="en-US" sz="6472" b="1" dirty="0">
                <a:solidFill>
                  <a:srgbClr val="76CEE4"/>
                </a:soli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Arguments of the Project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7097015"/>
            <a:ext cx="9522702" cy="555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550"/>
              </a:lnSpc>
            </a:pPr>
            <a:r>
              <a:rPr lang="en-US" sz="3500">
                <a:solidFill>
                  <a:srgbClr val="F9F5F3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Overview of the project dynamics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970676" y="1012827"/>
            <a:ext cx="4285372" cy="6000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799"/>
              </a:lnSpc>
            </a:pPr>
            <a:r>
              <a:rPr lang="en-US" sz="3999" b="1">
                <a:solidFill>
                  <a:srgbClr val="D7A33D"/>
                </a:soli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Inputs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1970676" y="5676373"/>
            <a:ext cx="3971603" cy="6000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799"/>
              </a:lnSpc>
            </a:pPr>
            <a:r>
              <a:rPr lang="en-US" sz="3999" b="1">
                <a:solidFill>
                  <a:srgbClr val="D7A33D"/>
                </a:soli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Outputs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1970676" y="6419323"/>
            <a:ext cx="5734079" cy="35316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51"/>
              </a:lnSpc>
            </a:pPr>
            <a:r>
              <a:rPr lang="en-US" sz="2251">
                <a:solidFill>
                  <a:srgbClr val="FEFEF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• Generated challan file in JSON/text format.</a:t>
            </a:r>
          </a:p>
          <a:p>
            <a:pPr algn="l">
              <a:lnSpc>
                <a:spcPts val="3151"/>
              </a:lnSpc>
            </a:pPr>
            <a:r>
              <a:rPr lang="en-US" sz="2251">
                <a:solidFill>
                  <a:srgbClr val="FEFEF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• Updated registration, bank, and challan database files.</a:t>
            </a:r>
          </a:p>
          <a:p>
            <a:pPr algn="l">
              <a:lnSpc>
                <a:spcPts val="3151"/>
              </a:lnSpc>
            </a:pPr>
            <a:r>
              <a:rPr lang="en-US" sz="2251">
                <a:solidFill>
                  <a:srgbClr val="FEFEF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• Email sent to the vehicle owner with challan details.</a:t>
            </a:r>
          </a:p>
          <a:p>
            <a:pPr algn="l">
              <a:lnSpc>
                <a:spcPts val="3151"/>
              </a:lnSpc>
            </a:pPr>
            <a:r>
              <a:rPr lang="en-US" sz="2251">
                <a:solidFill>
                  <a:srgbClr val="FEFEF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• GUI-generated visual display of challans, balances, and violation data.</a:t>
            </a:r>
          </a:p>
          <a:p>
            <a:pPr algn="l">
              <a:lnSpc>
                <a:spcPts val="3151"/>
              </a:lnSpc>
            </a:pPr>
            <a:r>
              <a:rPr lang="en-US" sz="2251">
                <a:solidFill>
                  <a:srgbClr val="FEFEF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• Status updates (PAID/UNPAID) after performing payment operations.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2579668" y="2345269"/>
            <a:ext cx="2267886" cy="2659568"/>
          </a:xfrm>
          <a:custGeom>
            <a:avLst/>
            <a:gdLst/>
            <a:ahLst/>
            <a:cxnLst/>
            <a:rect l="l" t="t" r="r" b="b"/>
            <a:pathLst>
              <a:path w="2267886" h="2659568">
                <a:moveTo>
                  <a:pt x="0" y="0"/>
                </a:moveTo>
                <a:lnTo>
                  <a:pt x="2267887" y="0"/>
                </a:lnTo>
                <a:lnTo>
                  <a:pt x="2267887" y="2659568"/>
                </a:lnTo>
                <a:lnTo>
                  <a:pt x="0" y="265956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7816679" y="2519330"/>
            <a:ext cx="3208987" cy="2485506"/>
          </a:xfrm>
          <a:custGeom>
            <a:avLst/>
            <a:gdLst/>
            <a:ahLst/>
            <a:cxnLst/>
            <a:rect l="l" t="t" r="r" b="b"/>
            <a:pathLst>
              <a:path w="3208987" h="2485506">
                <a:moveTo>
                  <a:pt x="0" y="0"/>
                </a:moveTo>
                <a:lnTo>
                  <a:pt x="3208986" y="0"/>
                </a:lnTo>
                <a:lnTo>
                  <a:pt x="3208986" y="2485507"/>
                </a:lnTo>
                <a:lnTo>
                  <a:pt x="0" y="248550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=""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3633665" y="2580534"/>
            <a:ext cx="3343866" cy="2424303"/>
          </a:xfrm>
          <a:custGeom>
            <a:avLst/>
            <a:gdLst/>
            <a:ahLst/>
            <a:cxnLst/>
            <a:rect l="l" t="t" r="r" b="b"/>
            <a:pathLst>
              <a:path w="3343866" h="2424303">
                <a:moveTo>
                  <a:pt x="0" y="0"/>
                </a:moveTo>
                <a:lnTo>
                  <a:pt x="3343866" y="0"/>
                </a:lnTo>
                <a:lnTo>
                  <a:pt x="3343866" y="2424303"/>
                </a:lnTo>
                <a:lnTo>
                  <a:pt x="0" y="242430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3076376" y="1114425"/>
            <a:ext cx="12135248" cy="100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7704"/>
              </a:lnSpc>
            </a:pPr>
            <a:r>
              <a:rPr lang="en-US" sz="7200" b="1" dirty="0">
                <a:gradFill>
                  <a:gsLst>
                    <a:gs pos="0">
                      <a:srgbClr val="000000">
                        <a:alpha val="100000"/>
                      </a:srgbClr>
                    </a:gs>
                    <a:gs pos="100000">
                      <a:srgbClr val="3533CD">
                        <a:alpha val="100000"/>
                      </a:srgbClr>
                    </a:gs>
                  </a:gsLst>
                  <a:lin ang="0"/>
                </a:gra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Pseudo Databases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777518" y="5133975"/>
            <a:ext cx="5056160" cy="438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02"/>
              </a:lnSpc>
              <a:spcBef>
                <a:spcPct val="0"/>
              </a:spcBef>
            </a:pPr>
            <a:r>
              <a:rPr lang="en-US" sz="2835" b="1">
                <a:solidFill>
                  <a:schemeClr val="tx2">
                    <a:lumMod val="60000"/>
                    <a:lumOff val="40000"/>
                  </a:schemeClr>
                </a:soli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3. Challan Database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2595583" y="6121467"/>
            <a:ext cx="5238095" cy="37449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46"/>
              </a:lnSpc>
            </a:pPr>
            <a:r>
              <a:rPr lang="en-US" sz="2390">
                <a:solidFill>
                  <a:srgbClr val="00143D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• JSON-based challan entries with:</a:t>
            </a:r>
          </a:p>
          <a:p>
            <a:pPr algn="ctr">
              <a:lnSpc>
                <a:spcPts val="3346"/>
              </a:lnSpc>
            </a:pPr>
            <a:r>
              <a:rPr lang="en-US" sz="2390">
                <a:solidFill>
                  <a:srgbClr val="00143D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– Challan ID</a:t>
            </a:r>
          </a:p>
          <a:p>
            <a:pPr algn="ctr">
              <a:lnSpc>
                <a:spcPts val="3346"/>
              </a:lnSpc>
            </a:pPr>
            <a:r>
              <a:rPr lang="en-US" sz="2390">
                <a:solidFill>
                  <a:srgbClr val="00143D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– Number plate</a:t>
            </a:r>
          </a:p>
          <a:p>
            <a:pPr algn="ctr">
              <a:lnSpc>
                <a:spcPts val="3346"/>
              </a:lnSpc>
            </a:pPr>
            <a:r>
              <a:rPr lang="en-US" sz="2390">
                <a:solidFill>
                  <a:srgbClr val="00143D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– Violation type</a:t>
            </a:r>
          </a:p>
          <a:p>
            <a:pPr algn="ctr">
              <a:lnSpc>
                <a:spcPts val="3346"/>
              </a:lnSpc>
            </a:pPr>
            <a:r>
              <a:rPr lang="en-US" sz="2390">
                <a:solidFill>
                  <a:srgbClr val="00143D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– Date &amp; time</a:t>
            </a:r>
          </a:p>
          <a:p>
            <a:pPr algn="ctr">
              <a:lnSpc>
                <a:spcPts val="3346"/>
              </a:lnSpc>
            </a:pPr>
            <a:r>
              <a:rPr lang="en-US" sz="2390">
                <a:solidFill>
                  <a:srgbClr val="00143D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– Fine amount</a:t>
            </a:r>
          </a:p>
          <a:p>
            <a:pPr algn="ctr">
              <a:lnSpc>
                <a:spcPts val="3346"/>
              </a:lnSpc>
            </a:pPr>
            <a:r>
              <a:rPr lang="en-US" sz="2390">
                <a:solidFill>
                  <a:srgbClr val="00143D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– Payment status</a:t>
            </a:r>
          </a:p>
          <a:p>
            <a:pPr marL="0" lvl="0" indent="0" algn="ctr">
              <a:lnSpc>
                <a:spcPts val="3346"/>
              </a:lnSpc>
              <a:spcBef>
                <a:spcPct val="0"/>
              </a:spcBef>
            </a:pPr>
            <a:r>
              <a:rPr lang="en-US" sz="2390">
                <a:solidFill>
                  <a:srgbClr val="00143D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• Supports: update status, append new challans, display history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509525" y="5173707"/>
            <a:ext cx="3711660" cy="438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02"/>
              </a:lnSpc>
              <a:spcBef>
                <a:spcPct val="0"/>
              </a:spcBef>
            </a:pPr>
            <a:r>
              <a:rPr lang="en-US" sz="2835" b="1">
                <a:solidFill>
                  <a:schemeClr val="tx2">
                    <a:lumMod val="60000"/>
                    <a:lumOff val="40000"/>
                  </a:schemeClr>
                </a:soli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2. Bank Database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198981" y="6157362"/>
            <a:ext cx="4347777" cy="34559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87"/>
              </a:lnSpc>
            </a:pPr>
            <a:r>
              <a:rPr lang="en-US" sz="2491">
                <a:solidFill>
                  <a:srgbClr val="00143D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• Uses dynamic 2D arrays to store:</a:t>
            </a:r>
          </a:p>
          <a:p>
            <a:pPr algn="ctr">
              <a:lnSpc>
                <a:spcPts val="3487"/>
              </a:lnSpc>
            </a:pPr>
            <a:r>
              <a:rPr lang="en-US" sz="2491">
                <a:solidFill>
                  <a:srgbClr val="00143D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– Account ID</a:t>
            </a:r>
          </a:p>
          <a:p>
            <a:pPr algn="ctr">
              <a:lnSpc>
                <a:spcPts val="3487"/>
              </a:lnSpc>
            </a:pPr>
            <a:r>
              <a:rPr lang="en-US" sz="2491">
                <a:solidFill>
                  <a:srgbClr val="00143D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– Current balance</a:t>
            </a:r>
          </a:p>
          <a:p>
            <a:pPr algn="ctr">
              <a:lnSpc>
                <a:spcPts val="3487"/>
              </a:lnSpc>
            </a:pPr>
            <a:r>
              <a:rPr lang="en-US" sz="2491">
                <a:solidFill>
                  <a:srgbClr val="00143D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– Transaction history</a:t>
            </a:r>
          </a:p>
          <a:p>
            <a:pPr marL="0" lvl="0" indent="0" algn="ctr">
              <a:lnSpc>
                <a:spcPts val="3487"/>
              </a:lnSpc>
              <a:spcBef>
                <a:spcPct val="0"/>
              </a:spcBef>
            </a:pPr>
            <a:r>
              <a:rPr lang="en-US" sz="2491">
                <a:solidFill>
                  <a:srgbClr val="00143D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• Handles: recharge, deduction for challans, balance validation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717165" y="5185812"/>
            <a:ext cx="3711660" cy="866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02"/>
              </a:lnSpc>
              <a:spcBef>
                <a:spcPct val="0"/>
              </a:spcBef>
            </a:pPr>
            <a:r>
              <a:rPr lang="en-US" sz="2835" b="1" dirty="0">
                <a:solidFill>
                  <a:schemeClr val="tx2">
                    <a:lumMod val="60000"/>
                    <a:lumOff val="40000"/>
                  </a:schemeClr>
                </a:soli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1. Registration Database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355995" y="6204987"/>
            <a:ext cx="4319700" cy="36614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79"/>
              </a:lnSpc>
            </a:pPr>
            <a:r>
              <a:rPr lang="en-US" sz="2342">
                <a:solidFill>
                  <a:srgbClr val="00143D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• JSON + Structs containing:</a:t>
            </a:r>
          </a:p>
          <a:p>
            <a:pPr algn="ctr">
              <a:lnSpc>
                <a:spcPts val="3279"/>
              </a:lnSpc>
            </a:pPr>
            <a:r>
              <a:rPr lang="en-US" sz="2342">
                <a:solidFill>
                  <a:srgbClr val="00143D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– Vehicle number plate</a:t>
            </a:r>
          </a:p>
          <a:p>
            <a:pPr algn="ctr">
              <a:lnSpc>
                <a:spcPts val="3279"/>
              </a:lnSpc>
            </a:pPr>
            <a:r>
              <a:rPr lang="en-US" sz="2342">
                <a:solidFill>
                  <a:srgbClr val="00143D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– Owner name</a:t>
            </a:r>
          </a:p>
          <a:p>
            <a:pPr algn="ctr">
              <a:lnSpc>
                <a:spcPts val="3279"/>
              </a:lnSpc>
            </a:pPr>
            <a:r>
              <a:rPr lang="en-US" sz="2342">
                <a:solidFill>
                  <a:srgbClr val="00143D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– Email address</a:t>
            </a:r>
          </a:p>
          <a:p>
            <a:pPr algn="ctr">
              <a:lnSpc>
                <a:spcPts val="3279"/>
              </a:lnSpc>
            </a:pPr>
            <a:r>
              <a:rPr lang="en-US" sz="2342">
                <a:solidFill>
                  <a:srgbClr val="00143D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– CNIC / ID</a:t>
            </a:r>
          </a:p>
          <a:p>
            <a:pPr algn="ctr">
              <a:lnSpc>
                <a:spcPts val="3279"/>
              </a:lnSpc>
            </a:pPr>
            <a:r>
              <a:rPr lang="en-US" sz="2342">
                <a:solidFill>
                  <a:srgbClr val="00143D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– Vehicle model</a:t>
            </a:r>
          </a:p>
          <a:p>
            <a:pPr marL="0" lvl="0" indent="0" algn="ctr">
              <a:lnSpc>
                <a:spcPts val="3279"/>
              </a:lnSpc>
              <a:spcBef>
                <a:spcPct val="0"/>
              </a:spcBef>
            </a:pPr>
            <a:r>
              <a:rPr lang="en-US" sz="2342">
                <a:solidFill>
                  <a:srgbClr val="00143D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• Supports: add new user, update records, search by number plate</a:t>
            </a:r>
          </a:p>
        </p:txBody>
      </p:sp>
      <p:sp>
        <p:nvSpPr>
          <p:cNvPr id="12" name="AutoShape 12"/>
          <p:cNvSpPr/>
          <p:nvPr/>
        </p:nvSpPr>
        <p:spPr>
          <a:xfrm flipH="1">
            <a:off x="6374909" y="5357812"/>
            <a:ext cx="0" cy="4522588"/>
          </a:xfrm>
          <a:prstGeom prst="line">
            <a:avLst/>
          </a:prstGeom>
          <a:ln w="76200" cap="flat">
            <a:solidFill>
              <a:srgbClr val="FFC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3" name="AutoShape 13"/>
          <p:cNvSpPr/>
          <p:nvPr/>
        </p:nvSpPr>
        <p:spPr>
          <a:xfrm>
            <a:off x="12346858" y="5397544"/>
            <a:ext cx="0" cy="4522588"/>
          </a:xfrm>
          <a:prstGeom prst="line">
            <a:avLst/>
          </a:prstGeom>
          <a:ln w="76200" cap="flat">
            <a:solidFill>
              <a:srgbClr val="FFC000"/>
            </a:solidFill>
            <a:prstDash val="solid"/>
            <a:headEnd type="none" w="sm" len="sm"/>
            <a:tailEnd type="none" w="sm" len="sm"/>
          </a:ln>
        </p:spPr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B093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7499545" y="535253"/>
            <a:ext cx="493447" cy="493447"/>
            <a:chOff x="0" y="0"/>
            <a:chExt cx="657929" cy="657929"/>
          </a:xfrm>
        </p:grpSpPr>
        <p:grpSp>
          <p:nvGrpSpPr>
            <p:cNvPr id="3" name="Group 3"/>
            <p:cNvGrpSpPr>
              <a:grpSpLocks noChangeAspect="1"/>
            </p:cNvGrpSpPr>
            <p:nvPr/>
          </p:nvGrpSpPr>
          <p:grpSpPr>
            <a:xfrm>
              <a:off x="0" y="0"/>
              <a:ext cx="657929" cy="657929"/>
              <a:chOff x="0" y="0"/>
              <a:chExt cx="6355080" cy="6355080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6355080" cy="6355080"/>
              </a:xfrm>
              <a:custGeom>
                <a:avLst/>
                <a:gdLst/>
                <a:ahLst/>
                <a:cxnLst/>
                <a:rect l="l" t="t" r="r" b="b"/>
                <a:pathLst>
                  <a:path w="6355080" h="6355080">
                    <a:moveTo>
                      <a:pt x="3177540" y="6355080"/>
                    </a:moveTo>
                    <a:cubicBezTo>
                      <a:pt x="2329180" y="6355080"/>
                      <a:pt x="1530350" y="6024880"/>
                      <a:pt x="930910" y="5424170"/>
                    </a:cubicBezTo>
                    <a:cubicBezTo>
                      <a:pt x="330200" y="4824730"/>
                      <a:pt x="0" y="4025900"/>
                      <a:pt x="0" y="3177540"/>
                    </a:cubicBezTo>
                    <a:cubicBezTo>
                      <a:pt x="0" y="2329180"/>
                      <a:pt x="330200" y="1530350"/>
                      <a:pt x="930910" y="930910"/>
                    </a:cubicBezTo>
                    <a:cubicBezTo>
                      <a:pt x="1530350" y="330200"/>
                      <a:pt x="2329180" y="0"/>
                      <a:pt x="3177540" y="0"/>
                    </a:cubicBezTo>
                    <a:cubicBezTo>
                      <a:pt x="4025900" y="0"/>
                      <a:pt x="4824730" y="330200"/>
                      <a:pt x="5424170" y="930910"/>
                    </a:cubicBezTo>
                    <a:cubicBezTo>
                      <a:pt x="6024880" y="1531620"/>
                      <a:pt x="6355080" y="2329180"/>
                      <a:pt x="6355080" y="3177540"/>
                    </a:cubicBezTo>
                    <a:cubicBezTo>
                      <a:pt x="6355080" y="4025900"/>
                      <a:pt x="6024880" y="4824730"/>
                      <a:pt x="5424170" y="5424170"/>
                    </a:cubicBezTo>
                    <a:cubicBezTo>
                      <a:pt x="4824730" y="6024880"/>
                      <a:pt x="4025900" y="6355080"/>
                      <a:pt x="3177540" y="6355080"/>
                    </a:cubicBezTo>
                    <a:close/>
                    <a:moveTo>
                      <a:pt x="3177540" y="190500"/>
                    </a:moveTo>
                    <a:cubicBezTo>
                      <a:pt x="2379980" y="190500"/>
                      <a:pt x="1629410" y="501650"/>
                      <a:pt x="1065530" y="1065530"/>
                    </a:cubicBezTo>
                    <a:cubicBezTo>
                      <a:pt x="501650" y="1629410"/>
                      <a:pt x="190500" y="2379980"/>
                      <a:pt x="190500" y="3177540"/>
                    </a:cubicBezTo>
                    <a:cubicBezTo>
                      <a:pt x="190500" y="3975100"/>
                      <a:pt x="501650" y="4725670"/>
                      <a:pt x="1065530" y="5289550"/>
                    </a:cubicBezTo>
                    <a:cubicBezTo>
                      <a:pt x="1629410" y="5853430"/>
                      <a:pt x="2379980" y="6164580"/>
                      <a:pt x="3177540" y="6164580"/>
                    </a:cubicBezTo>
                    <a:cubicBezTo>
                      <a:pt x="3975100" y="6164580"/>
                      <a:pt x="4725670" y="5853430"/>
                      <a:pt x="5289550" y="5289550"/>
                    </a:cubicBezTo>
                    <a:cubicBezTo>
                      <a:pt x="5853430" y="4725670"/>
                      <a:pt x="6164580" y="3975100"/>
                      <a:pt x="6164580" y="3177540"/>
                    </a:cubicBezTo>
                    <a:cubicBezTo>
                      <a:pt x="6164580" y="2379980"/>
                      <a:pt x="5853430" y="1629410"/>
                      <a:pt x="5289550" y="1065530"/>
                    </a:cubicBezTo>
                    <a:cubicBezTo>
                      <a:pt x="4725670" y="501650"/>
                      <a:pt x="3975100" y="190500"/>
                      <a:pt x="3177540" y="190500"/>
                    </a:cubicBezTo>
                    <a:close/>
                  </a:path>
                </a:pathLst>
              </a:custGeom>
              <a:solidFill>
                <a:srgbClr val="FEFEFE"/>
              </a:solidFill>
            </p:spPr>
          </p:sp>
        </p:grpSp>
        <p:sp>
          <p:nvSpPr>
            <p:cNvPr id="5" name="Freeform 5"/>
            <p:cNvSpPr/>
            <p:nvPr/>
          </p:nvSpPr>
          <p:spPr>
            <a:xfrm rot="5400000">
              <a:off x="109655" y="109655"/>
              <a:ext cx="438619" cy="438619"/>
            </a:xfrm>
            <a:custGeom>
              <a:avLst/>
              <a:gdLst/>
              <a:ahLst/>
              <a:cxnLst/>
              <a:rect l="l" t="t" r="r" b="b"/>
              <a:pathLst>
                <a:path w="438619" h="438619">
                  <a:moveTo>
                    <a:pt x="0" y="0"/>
                  </a:moveTo>
                  <a:lnTo>
                    <a:pt x="438619" y="0"/>
                  </a:lnTo>
                  <a:lnTo>
                    <a:pt x="438619" y="438619"/>
                  </a:lnTo>
                  <a:lnTo>
                    <a:pt x="0" y="4386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=""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6" name="Freeform 6"/>
          <p:cNvSpPr/>
          <p:nvPr/>
        </p:nvSpPr>
        <p:spPr>
          <a:xfrm rot="230826">
            <a:off x="-1365593" y="8361782"/>
            <a:ext cx="4788586" cy="3587086"/>
          </a:xfrm>
          <a:custGeom>
            <a:avLst/>
            <a:gdLst/>
            <a:ahLst/>
            <a:cxnLst/>
            <a:rect l="l" t="t" r="r" b="b"/>
            <a:pathLst>
              <a:path w="4788586" h="3587086">
                <a:moveTo>
                  <a:pt x="0" y="0"/>
                </a:moveTo>
                <a:lnTo>
                  <a:pt x="4788586" y="0"/>
                </a:lnTo>
                <a:lnTo>
                  <a:pt x="4788586" y="3587086"/>
                </a:lnTo>
                <a:lnTo>
                  <a:pt x="0" y="358708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=""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aphicFrame>
        <p:nvGraphicFramePr>
          <p:cNvPr id="7" name="Table 7"/>
          <p:cNvGraphicFramePr>
            <a:graphicFrameLocks noGrp="1"/>
          </p:cNvGraphicFramePr>
          <p:nvPr/>
        </p:nvGraphicFramePr>
        <p:xfrm>
          <a:off x="1028700" y="2649555"/>
          <a:ext cx="16470844" cy="7417231"/>
        </p:xfrm>
        <a:graphic>
          <a:graphicData uri="http://schemas.openxmlformats.org/drawingml/2006/table">
            <a:tbl>
              <a:tblPr/>
              <a:tblGrid>
                <a:gridCol w="27398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270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482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455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7723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03783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728464">
                <a:tc>
                  <a:txBody>
                    <a:bodyPr/>
                    <a:lstStyle/>
                    <a:p>
                      <a:pPr algn="ctr">
                        <a:lnSpc>
                          <a:spcPts val="4480"/>
                        </a:lnSpc>
                        <a:defRPr/>
                      </a:pPr>
                      <a:r>
                        <a:rPr lang="en-US" sz="3200" b="1">
                          <a:solidFill>
                            <a:srgbClr val="FFD6D6"/>
                          </a:solidFill>
                          <a:latin typeface="Atkinson Hyperlegible Bold"/>
                          <a:ea typeface="Atkinson Hyperlegible Bold"/>
                          <a:cs typeface="Atkinson Hyperlegible Bold"/>
                          <a:sym typeface="Atkinson Hyperlegible Bold"/>
                        </a:rPr>
                        <a:t>Image Processing Module</a:t>
                      </a:r>
                      <a:endParaRPr lang="en-US" sz="1100"/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480"/>
                        </a:lnSpc>
                        <a:defRPr/>
                      </a:pPr>
                      <a:r>
                        <a:rPr lang="en-US" sz="3200" b="1">
                          <a:solidFill>
                            <a:srgbClr val="FFD6D6"/>
                          </a:solidFill>
                          <a:latin typeface="Atkinson Hyperlegible Bold"/>
                          <a:ea typeface="Atkinson Hyperlegible Bold"/>
                          <a:cs typeface="Atkinson Hyperlegible Bold"/>
                          <a:sym typeface="Atkinson Hyperlegible Bold"/>
                        </a:rPr>
                        <a:t>Violation Detection Engine</a:t>
                      </a:r>
                      <a:endParaRPr lang="en-US" sz="1100"/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480"/>
                        </a:lnSpc>
                        <a:defRPr/>
                      </a:pPr>
                      <a:r>
                        <a:rPr lang="en-US" sz="3200" b="1">
                          <a:solidFill>
                            <a:srgbClr val="FFD6D6"/>
                          </a:solidFill>
                          <a:latin typeface="Atkinson Hyperlegible Bold"/>
                          <a:ea typeface="Atkinson Hyperlegible Bold"/>
                          <a:cs typeface="Atkinson Hyperlegible Bold"/>
                          <a:sym typeface="Atkinson Hyperlegible Bold"/>
                        </a:rPr>
                        <a:t>GUI Front-End</a:t>
                      </a:r>
                      <a:endParaRPr lang="en-US" sz="1100"/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480"/>
                        </a:lnSpc>
                        <a:defRPr/>
                      </a:pPr>
                      <a:r>
                        <a:rPr lang="en-US" sz="3200" b="1">
                          <a:solidFill>
                            <a:srgbClr val="FFD6D6"/>
                          </a:solidFill>
                          <a:latin typeface="Atkinson Hyperlegible Bold"/>
                          <a:ea typeface="Atkinson Hyperlegible Bold"/>
                          <a:cs typeface="Atkinson Hyperlegible Bold"/>
                          <a:sym typeface="Atkinson Hyperlegible Bold"/>
                        </a:rPr>
                        <a:t>Notification System</a:t>
                      </a:r>
                      <a:endParaRPr lang="en-US" sz="1100"/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060"/>
                        </a:lnSpc>
                        <a:defRPr/>
                      </a:pPr>
                      <a:r>
                        <a:rPr lang="en-US" sz="2900" b="1">
                          <a:solidFill>
                            <a:srgbClr val="FFD6D6"/>
                          </a:solidFill>
                          <a:latin typeface="Atkinson Hyperlegible Bold"/>
                          <a:ea typeface="Atkinson Hyperlegible Bold"/>
                          <a:cs typeface="Atkinson Hyperlegible Bold"/>
                          <a:sym typeface="Atkinson Hyperlegible Bold"/>
                        </a:rPr>
                        <a:t>Finance Manager (Pseudo Bank)</a:t>
                      </a:r>
                      <a:endParaRPr lang="en-US" sz="1100"/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480"/>
                        </a:lnSpc>
                        <a:defRPr/>
                      </a:pPr>
                      <a:r>
                        <a:rPr lang="en-US" sz="3200" b="1">
                          <a:solidFill>
                            <a:srgbClr val="FFD6D6"/>
                          </a:solidFill>
                          <a:latin typeface="Atkinson Hyperlegible Bold"/>
                          <a:ea typeface="Atkinson Hyperlegible Bold"/>
                          <a:cs typeface="Atkinson Hyperlegible Bold"/>
                          <a:sym typeface="Atkinson Hyperlegible Bold"/>
                        </a:rPr>
                        <a:t>Challan Manager</a:t>
                      </a:r>
                      <a:endParaRPr lang="en-US" sz="1100"/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54073">
                <a:tc>
                  <a:txBody>
                    <a:bodyPr/>
                    <a:lstStyle/>
                    <a:p>
                      <a:pPr algn="ctr">
                        <a:lnSpc>
                          <a:spcPts val="4200"/>
                        </a:lnSpc>
                        <a:defRPr/>
                      </a:pPr>
                      <a:r>
                        <a:rPr lang="en-US" sz="3000">
                          <a:solidFill>
                            <a:srgbClr val="FEFEFE"/>
                          </a:solidFill>
                          <a:latin typeface="Atkinson Hyperlegible"/>
                          <a:ea typeface="Atkinson Hyperlegible"/>
                          <a:cs typeface="Atkinson Hyperlegible"/>
                          <a:sym typeface="Atkinson Hyperlegible"/>
                        </a:rPr>
                        <a:t>Reads camera frames</a:t>
                      </a:r>
                      <a:endParaRPr lang="en-US" sz="1100"/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4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200"/>
                        </a:lnSpc>
                        <a:defRPr/>
                      </a:pPr>
                      <a:r>
                        <a:rPr lang="en-US" sz="3000">
                          <a:solidFill>
                            <a:srgbClr val="FEFEFE"/>
                          </a:solidFill>
                          <a:latin typeface="Atkinson Hyperlegible"/>
                          <a:ea typeface="Atkinson Hyperlegible"/>
                          <a:cs typeface="Atkinson Hyperlegible"/>
                          <a:sym typeface="Atkinson Hyperlegible"/>
                        </a:rPr>
                        <a:t>Rule-based logic/Pre-Trained Model</a:t>
                      </a:r>
                      <a:endParaRPr lang="en-US" sz="1100"/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4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200"/>
                        </a:lnSpc>
                        <a:defRPr/>
                      </a:pPr>
                      <a:r>
                        <a:rPr lang="en-US" sz="3000">
                          <a:solidFill>
                            <a:srgbClr val="FEFEFE"/>
                          </a:solidFill>
                          <a:latin typeface="Atkinson Hyperlegible"/>
                          <a:ea typeface="Atkinson Hyperlegible"/>
                          <a:cs typeface="Atkinson Hyperlegible"/>
                          <a:sym typeface="Atkinson Hyperlegible"/>
                        </a:rPr>
                        <a:t>Dashboard view</a:t>
                      </a:r>
                      <a:endParaRPr lang="en-US" sz="1100"/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4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200"/>
                        </a:lnSpc>
                        <a:defRPr/>
                      </a:pPr>
                      <a:r>
                        <a:rPr lang="en-US" sz="3000">
                          <a:solidFill>
                            <a:srgbClr val="FEFEFE"/>
                          </a:solidFill>
                          <a:latin typeface="Atkinson Hyperlegible"/>
                          <a:ea typeface="Atkinson Hyperlegible"/>
                          <a:cs typeface="Atkinson Hyperlegible"/>
                          <a:sym typeface="Atkinson Hyperlegible"/>
                        </a:rPr>
                        <a:t>Sends email alerts via SMTP</a:t>
                      </a:r>
                      <a:endParaRPr lang="en-US" sz="1100"/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4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200"/>
                        </a:lnSpc>
                        <a:defRPr/>
                      </a:pPr>
                      <a:r>
                        <a:rPr lang="en-US" sz="3000">
                          <a:solidFill>
                            <a:srgbClr val="FEFEFE"/>
                          </a:solidFill>
                          <a:latin typeface="Atkinson Hyperlegible"/>
                          <a:ea typeface="Atkinson Hyperlegible"/>
                          <a:cs typeface="Atkinson Hyperlegible"/>
                          <a:sym typeface="Atkinson Hyperlegible"/>
                        </a:rPr>
                        <a:t>Deducts fine amounts</a:t>
                      </a:r>
                      <a:endParaRPr lang="en-US" sz="1100"/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4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200"/>
                        </a:lnSpc>
                        <a:defRPr/>
                      </a:pPr>
                      <a:r>
                        <a:rPr lang="en-US" sz="3000">
                          <a:solidFill>
                            <a:srgbClr val="FEFEFE"/>
                          </a:solidFill>
                          <a:latin typeface="Atkinson Hyperlegible"/>
                          <a:ea typeface="Atkinson Hyperlegible"/>
                          <a:cs typeface="Atkinson Hyperlegible"/>
                          <a:sym typeface="Atkinson Hyperlegible"/>
                        </a:rPr>
                        <a:t>Creates new challan entries</a:t>
                      </a:r>
                      <a:endParaRPr lang="en-US" sz="1100"/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4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57402">
                <a:tc>
                  <a:txBody>
                    <a:bodyPr/>
                    <a:lstStyle/>
                    <a:p>
                      <a:pPr algn="ctr">
                        <a:lnSpc>
                          <a:spcPts val="4200"/>
                        </a:lnSpc>
                        <a:defRPr/>
                      </a:pPr>
                      <a:r>
                        <a:rPr lang="en-US" sz="3000">
                          <a:solidFill>
                            <a:srgbClr val="FEFEFE"/>
                          </a:solidFill>
                          <a:latin typeface="Atkinson Hyperlegible"/>
                          <a:ea typeface="Atkinson Hyperlegible"/>
                          <a:cs typeface="Atkinson Hyperlegible"/>
                          <a:sym typeface="Atkinson Hyperlegible"/>
                        </a:rPr>
                        <a:t>Detects vehicles &amp; plates</a:t>
                      </a:r>
                      <a:endParaRPr lang="en-US" sz="1100"/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4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200"/>
                        </a:lnSpc>
                        <a:defRPr/>
                      </a:pPr>
                      <a:r>
                        <a:rPr lang="en-US" sz="3000">
                          <a:solidFill>
                            <a:srgbClr val="FEFEFE"/>
                          </a:solidFill>
                          <a:latin typeface="Atkinson Hyperlegible"/>
                          <a:ea typeface="Atkinson Hyperlegible"/>
                          <a:cs typeface="Atkinson Hyperlegible"/>
                          <a:sym typeface="Atkinson Hyperlegible"/>
                        </a:rPr>
                        <a:t>Detects traffic violations automatically</a:t>
                      </a:r>
                      <a:endParaRPr lang="en-US" sz="1100"/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4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200"/>
                        </a:lnSpc>
                        <a:defRPr/>
                      </a:pPr>
                      <a:r>
                        <a:rPr lang="en-US" sz="3000" dirty="0">
                          <a:solidFill>
                            <a:srgbClr val="FEFEFE"/>
                          </a:solidFill>
                          <a:latin typeface="Atkinson Hyperlegible"/>
                          <a:ea typeface="Atkinson Hyperlegible"/>
                          <a:cs typeface="Atkinson Hyperlegible"/>
                          <a:sym typeface="Atkinson Hyperlegible"/>
                        </a:rPr>
                        <a:t>User profile view</a:t>
                      </a:r>
                      <a:endParaRPr lang="en-US" sz="1100" dirty="0"/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4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2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4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200"/>
                        </a:lnSpc>
                        <a:defRPr/>
                      </a:pPr>
                      <a:r>
                        <a:rPr lang="en-US" sz="3000">
                          <a:solidFill>
                            <a:srgbClr val="FEFEFE"/>
                          </a:solidFill>
                          <a:latin typeface="Atkinson Hyperlegible"/>
                          <a:ea typeface="Atkinson Hyperlegible"/>
                          <a:cs typeface="Atkinson Hyperlegible"/>
                          <a:sym typeface="Atkinson Hyperlegible"/>
                        </a:rPr>
                        <a:t>Updates balances</a:t>
                      </a:r>
                      <a:endParaRPr lang="en-US" sz="1100"/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4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200"/>
                        </a:lnSpc>
                        <a:defRPr/>
                      </a:pPr>
                      <a:r>
                        <a:rPr lang="en-US" sz="3000">
                          <a:solidFill>
                            <a:srgbClr val="FEFEFE"/>
                          </a:solidFill>
                          <a:latin typeface="Atkinson Hyperlegible"/>
                          <a:ea typeface="Atkinson Hyperlegible"/>
                          <a:cs typeface="Atkinson Hyperlegible"/>
                          <a:sym typeface="Atkinson Hyperlegible"/>
                        </a:rPr>
                        <a:t>Assigns unique challan IDs</a:t>
                      </a:r>
                      <a:endParaRPr lang="en-US" sz="1100"/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4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7292">
                <a:tc>
                  <a:txBody>
                    <a:bodyPr/>
                    <a:lstStyle/>
                    <a:p>
                      <a:pPr algn="ctr">
                        <a:lnSpc>
                          <a:spcPts val="4200"/>
                        </a:lnSpc>
                        <a:defRPr/>
                      </a:pPr>
                      <a:r>
                        <a:rPr lang="en-US" sz="3000">
                          <a:solidFill>
                            <a:srgbClr val="FEFEFE"/>
                          </a:solidFill>
                          <a:latin typeface="Atkinson Hyperlegible"/>
                          <a:ea typeface="Atkinson Hyperlegible"/>
                          <a:cs typeface="Atkinson Hyperlegible"/>
                          <a:sym typeface="Atkinson Hyperlegible"/>
                        </a:rPr>
                        <a:t>Performs character segmentation</a:t>
                      </a:r>
                      <a:endParaRPr lang="en-US" sz="1100"/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4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2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4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200"/>
                        </a:lnSpc>
                        <a:defRPr/>
                      </a:pPr>
                      <a:r>
                        <a:rPr lang="en-US" sz="3000">
                          <a:solidFill>
                            <a:srgbClr val="FEFEFE"/>
                          </a:solidFill>
                          <a:latin typeface="Atkinson Hyperlegible"/>
                          <a:ea typeface="Atkinson Hyperlegible"/>
                          <a:cs typeface="Atkinson Hyperlegible"/>
                          <a:sym typeface="Atkinson Hyperlegible"/>
                        </a:rPr>
                        <a:t>Challan/payment interface</a:t>
                      </a:r>
                      <a:endParaRPr lang="en-US" sz="1100"/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4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2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4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200"/>
                        </a:lnSpc>
                        <a:defRPr/>
                      </a:pPr>
                      <a:r>
                        <a:rPr lang="en-US" sz="3000">
                          <a:solidFill>
                            <a:srgbClr val="FEFEFE"/>
                          </a:solidFill>
                          <a:latin typeface="Atkinson Hyperlegible"/>
                          <a:ea typeface="Atkinson Hyperlegible"/>
                          <a:cs typeface="Atkinson Hyperlegible"/>
                          <a:sym typeface="Atkinson Hyperlegible"/>
                        </a:rPr>
                        <a:t>Marks challans PAID</a:t>
                      </a:r>
                      <a:endParaRPr lang="en-US" sz="1100"/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4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200"/>
                        </a:lnSpc>
                        <a:defRPr/>
                      </a:pPr>
                      <a:r>
                        <a:rPr lang="en-US" sz="3000" dirty="0">
                          <a:solidFill>
                            <a:srgbClr val="FEFEFE"/>
                          </a:solidFill>
                          <a:latin typeface="Atkinson Hyperlegible"/>
                          <a:ea typeface="Atkinson Hyperlegible"/>
                          <a:cs typeface="Atkinson Hyperlegible"/>
                          <a:sym typeface="Atkinson Hyperlegible"/>
                        </a:rPr>
                        <a:t>Links challans to user accounts</a:t>
                      </a:r>
                      <a:endParaRPr lang="en-US" sz="1100" dirty="0"/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4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Freeform 8"/>
          <p:cNvSpPr/>
          <p:nvPr/>
        </p:nvSpPr>
        <p:spPr>
          <a:xfrm>
            <a:off x="15764535" y="-1465245"/>
            <a:ext cx="3804731" cy="4114800"/>
          </a:xfrm>
          <a:custGeom>
            <a:avLst/>
            <a:gdLst/>
            <a:ahLst/>
            <a:cxnLst/>
            <a:rect l="l" t="t" r="r" b="b"/>
            <a:pathLst>
              <a:path w="3804731" h="4114800">
                <a:moveTo>
                  <a:pt x="0" y="0"/>
                </a:moveTo>
                <a:lnTo>
                  <a:pt x="3804731" y="0"/>
                </a:lnTo>
                <a:lnTo>
                  <a:pt x="3804731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9" name="TextBox 9"/>
          <p:cNvSpPr txBox="1"/>
          <p:nvPr/>
        </p:nvSpPr>
        <p:spPr>
          <a:xfrm>
            <a:off x="1028700" y="1028700"/>
            <a:ext cx="14936342" cy="1333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0559"/>
              </a:lnSpc>
              <a:spcBef>
                <a:spcPct val="0"/>
              </a:spcBef>
            </a:pPr>
            <a:r>
              <a:rPr lang="en-US" sz="8799" dirty="0">
                <a:solidFill>
                  <a:srgbClr val="D7A33D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Core System Modules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14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2133600" y="5127460"/>
            <a:ext cx="16154400" cy="92240"/>
          </a:xfrm>
          <a:prstGeom prst="line">
            <a:avLst/>
          </a:prstGeom>
          <a:ln w="19050" cap="flat">
            <a:solidFill>
              <a:srgbClr val="1CABB0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3" name="Group 3"/>
          <p:cNvGrpSpPr/>
          <p:nvPr/>
        </p:nvGrpSpPr>
        <p:grpSpPr>
          <a:xfrm>
            <a:off x="1928618" y="4948238"/>
            <a:ext cx="323850" cy="323850"/>
            <a:chOff x="0" y="0"/>
            <a:chExt cx="6350000" cy="6350000"/>
          </a:xfrm>
          <a:solidFill>
            <a:srgbClr val="1CABB0"/>
          </a:solidFill>
        </p:grpSpPr>
        <p:sp>
          <p:nvSpPr>
            <p:cNvPr id="4" name="Freeform 4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grpFill/>
          </p:spPr>
        </p:sp>
      </p:grpSp>
      <p:grpSp>
        <p:nvGrpSpPr>
          <p:cNvPr id="5" name="Group 5"/>
          <p:cNvGrpSpPr/>
          <p:nvPr/>
        </p:nvGrpSpPr>
        <p:grpSpPr>
          <a:xfrm>
            <a:off x="6515303" y="5048250"/>
            <a:ext cx="323850" cy="323850"/>
            <a:chOff x="0" y="0"/>
            <a:chExt cx="6350000" cy="6350000"/>
          </a:xfrm>
          <a:solidFill>
            <a:srgbClr val="1CABB0"/>
          </a:solidFill>
        </p:grpSpPr>
        <p:sp>
          <p:nvSpPr>
            <p:cNvPr id="6" name="Freeform 6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grpFill/>
          </p:spPr>
        </p:sp>
      </p:grpSp>
      <p:grpSp>
        <p:nvGrpSpPr>
          <p:cNvPr id="7" name="Group 7"/>
          <p:cNvGrpSpPr/>
          <p:nvPr/>
        </p:nvGrpSpPr>
        <p:grpSpPr>
          <a:xfrm>
            <a:off x="10648756" y="5048250"/>
            <a:ext cx="323850" cy="323850"/>
            <a:chOff x="0" y="0"/>
            <a:chExt cx="6350000" cy="6350000"/>
          </a:xfrm>
          <a:solidFill>
            <a:srgbClr val="1CABB0"/>
          </a:solidFill>
        </p:grpSpPr>
        <p:sp>
          <p:nvSpPr>
            <p:cNvPr id="8" name="Freeform 8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grpFill/>
          </p:spPr>
        </p:sp>
      </p:grpSp>
      <p:grpSp>
        <p:nvGrpSpPr>
          <p:cNvPr id="9" name="Group 9"/>
          <p:cNvGrpSpPr/>
          <p:nvPr/>
        </p:nvGrpSpPr>
        <p:grpSpPr>
          <a:xfrm>
            <a:off x="14829198" y="5048250"/>
            <a:ext cx="323850" cy="323850"/>
            <a:chOff x="0" y="0"/>
            <a:chExt cx="6350000" cy="6350000"/>
          </a:xfrm>
          <a:solidFill>
            <a:srgbClr val="1CABB0"/>
          </a:solidFill>
        </p:grpSpPr>
        <p:sp>
          <p:nvSpPr>
            <p:cNvPr id="10" name="Freeform 10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grpFill/>
          </p:spPr>
        </p:sp>
      </p:grpSp>
      <p:grpSp>
        <p:nvGrpSpPr>
          <p:cNvPr id="12" name="Group 12"/>
          <p:cNvGrpSpPr/>
          <p:nvPr/>
        </p:nvGrpSpPr>
        <p:grpSpPr>
          <a:xfrm>
            <a:off x="17499545" y="535253"/>
            <a:ext cx="493447" cy="493447"/>
            <a:chOff x="0" y="0"/>
            <a:chExt cx="657929" cy="657929"/>
          </a:xfrm>
        </p:grpSpPr>
        <p:grpSp>
          <p:nvGrpSpPr>
            <p:cNvPr id="13" name="Group 13"/>
            <p:cNvGrpSpPr>
              <a:grpSpLocks noChangeAspect="1"/>
            </p:cNvGrpSpPr>
            <p:nvPr/>
          </p:nvGrpSpPr>
          <p:grpSpPr>
            <a:xfrm>
              <a:off x="0" y="0"/>
              <a:ext cx="657929" cy="657929"/>
              <a:chOff x="0" y="0"/>
              <a:chExt cx="6355080" cy="6355080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0" y="0"/>
                <a:ext cx="6355080" cy="6355080"/>
              </a:xfrm>
              <a:custGeom>
                <a:avLst/>
                <a:gdLst/>
                <a:ahLst/>
                <a:cxnLst/>
                <a:rect l="l" t="t" r="r" b="b"/>
                <a:pathLst>
                  <a:path w="6355080" h="6355080">
                    <a:moveTo>
                      <a:pt x="3177540" y="6355080"/>
                    </a:moveTo>
                    <a:cubicBezTo>
                      <a:pt x="2329180" y="6355080"/>
                      <a:pt x="1530350" y="6024880"/>
                      <a:pt x="930910" y="5424170"/>
                    </a:cubicBezTo>
                    <a:cubicBezTo>
                      <a:pt x="330200" y="4824730"/>
                      <a:pt x="0" y="4025900"/>
                      <a:pt x="0" y="3177540"/>
                    </a:cubicBezTo>
                    <a:cubicBezTo>
                      <a:pt x="0" y="2329180"/>
                      <a:pt x="330200" y="1530350"/>
                      <a:pt x="930910" y="930910"/>
                    </a:cubicBezTo>
                    <a:cubicBezTo>
                      <a:pt x="1530350" y="330200"/>
                      <a:pt x="2329180" y="0"/>
                      <a:pt x="3177540" y="0"/>
                    </a:cubicBezTo>
                    <a:cubicBezTo>
                      <a:pt x="4025900" y="0"/>
                      <a:pt x="4824730" y="330200"/>
                      <a:pt x="5424170" y="930910"/>
                    </a:cubicBezTo>
                    <a:cubicBezTo>
                      <a:pt x="6024880" y="1531620"/>
                      <a:pt x="6355080" y="2329180"/>
                      <a:pt x="6355080" y="3177540"/>
                    </a:cubicBezTo>
                    <a:cubicBezTo>
                      <a:pt x="6355080" y="4025900"/>
                      <a:pt x="6024880" y="4824730"/>
                      <a:pt x="5424170" y="5424170"/>
                    </a:cubicBezTo>
                    <a:cubicBezTo>
                      <a:pt x="4824730" y="6024880"/>
                      <a:pt x="4025900" y="6355080"/>
                      <a:pt x="3177540" y="6355080"/>
                    </a:cubicBezTo>
                    <a:close/>
                    <a:moveTo>
                      <a:pt x="3177540" y="190500"/>
                    </a:moveTo>
                    <a:cubicBezTo>
                      <a:pt x="2379980" y="190500"/>
                      <a:pt x="1629410" y="501650"/>
                      <a:pt x="1065530" y="1065530"/>
                    </a:cubicBezTo>
                    <a:cubicBezTo>
                      <a:pt x="501650" y="1629410"/>
                      <a:pt x="190500" y="2379980"/>
                      <a:pt x="190500" y="3177540"/>
                    </a:cubicBezTo>
                    <a:cubicBezTo>
                      <a:pt x="190500" y="3975100"/>
                      <a:pt x="501650" y="4725670"/>
                      <a:pt x="1065530" y="5289550"/>
                    </a:cubicBezTo>
                    <a:cubicBezTo>
                      <a:pt x="1629410" y="5853430"/>
                      <a:pt x="2379980" y="6164580"/>
                      <a:pt x="3177540" y="6164580"/>
                    </a:cubicBezTo>
                    <a:cubicBezTo>
                      <a:pt x="3975100" y="6164580"/>
                      <a:pt x="4725670" y="5853430"/>
                      <a:pt x="5289550" y="5289550"/>
                    </a:cubicBezTo>
                    <a:cubicBezTo>
                      <a:pt x="5853430" y="4725670"/>
                      <a:pt x="6164580" y="3975100"/>
                      <a:pt x="6164580" y="3177540"/>
                    </a:cubicBezTo>
                    <a:cubicBezTo>
                      <a:pt x="6164580" y="2379980"/>
                      <a:pt x="5853430" y="1629410"/>
                      <a:pt x="5289550" y="1065530"/>
                    </a:cubicBezTo>
                    <a:cubicBezTo>
                      <a:pt x="4725670" y="501650"/>
                      <a:pt x="3975100" y="190500"/>
                      <a:pt x="3177540" y="190500"/>
                    </a:cubicBezTo>
                    <a:close/>
                  </a:path>
                </a:pathLst>
              </a:custGeom>
              <a:solidFill>
                <a:srgbClr val="E83A3C"/>
              </a:solidFill>
            </p:spPr>
          </p:sp>
        </p:grpSp>
        <p:sp>
          <p:nvSpPr>
            <p:cNvPr id="15" name="Freeform 15"/>
            <p:cNvSpPr/>
            <p:nvPr/>
          </p:nvSpPr>
          <p:spPr>
            <a:xfrm rot="5400000">
              <a:off x="109655" y="109655"/>
              <a:ext cx="438619" cy="438619"/>
            </a:xfrm>
            <a:custGeom>
              <a:avLst/>
              <a:gdLst/>
              <a:ahLst/>
              <a:cxnLst/>
              <a:rect l="l" t="t" r="r" b="b"/>
              <a:pathLst>
                <a:path w="438619" h="438619">
                  <a:moveTo>
                    <a:pt x="0" y="0"/>
                  </a:moveTo>
                  <a:lnTo>
                    <a:pt x="438619" y="0"/>
                  </a:lnTo>
                  <a:lnTo>
                    <a:pt x="438619" y="438619"/>
                  </a:lnTo>
                  <a:lnTo>
                    <a:pt x="0" y="4386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=""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18" name="TextBox 18"/>
          <p:cNvSpPr txBox="1"/>
          <p:nvPr/>
        </p:nvSpPr>
        <p:spPr>
          <a:xfrm>
            <a:off x="1028700" y="2160395"/>
            <a:ext cx="16230600" cy="10821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7994"/>
              </a:lnSpc>
            </a:pPr>
            <a:r>
              <a:rPr lang="en-GB" sz="8689" b="1" dirty="0" smtClean="0">
                <a:solidFill>
                  <a:srgbClr val="1CABB0"/>
                </a:soli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Workload Breakdown</a:t>
            </a:r>
            <a:endParaRPr lang="en-US" sz="8689" b="1" dirty="0">
              <a:solidFill>
                <a:srgbClr val="1CABB0"/>
              </a:solidFill>
              <a:latin typeface="Atkinson Hyperlegible Bold"/>
              <a:ea typeface="Atkinson Hyperlegible Bold"/>
              <a:cs typeface="Atkinson Hyperlegible Bold"/>
              <a:sym typeface="Atkinson Hyperlegible Bold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816145" y="5853578"/>
            <a:ext cx="3340688" cy="8637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59"/>
              </a:lnSpc>
              <a:spcBef>
                <a:spcPct val="0"/>
              </a:spcBef>
            </a:pPr>
            <a:r>
              <a:rPr lang="en-US" sz="2799" b="1" dirty="0" smtClean="0">
                <a:solidFill>
                  <a:srgbClr val="1CABB0"/>
                </a:soli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Part_1: </a:t>
            </a:r>
            <a:r>
              <a:rPr lang="en-US" sz="2799" b="1" dirty="0" err="1" smtClean="0">
                <a:solidFill>
                  <a:srgbClr val="1CABB0"/>
                </a:soli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OpenCV</a:t>
            </a:r>
            <a:r>
              <a:rPr lang="en-US" sz="2799" b="1" dirty="0" smtClean="0">
                <a:solidFill>
                  <a:srgbClr val="1CABB0"/>
                </a:soli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 Module</a:t>
            </a:r>
            <a:endParaRPr lang="en-US" sz="2799" b="1" dirty="0">
              <a:solidFill>
                <a:srgbClr val="1CABB0"/>
              </a:solidFill>
              <a:latin typeface="Atkinson Hyperlegible Bold"/>
              <a:ea typeface="Atkinson Hyperlegible Bold"/>
              <a:cs typeface="Atkinson Hyperlegible Bold"/>
              <a:sym typeface="Atkinson Hyperlegible Bold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637240" y="6723782"/>
            <a:ext cx="3706160" cy="30008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14350" lvl="0" indent="-514350" algn="l">
              <a:lnSpc>
                <a:spcPts val="3877"/>
              </a:lnSpc>
              <a:spcBef>
                <a:spcPct val="0"/>
              </a:spcBef>
              <a:buAutoNum type="arabicPeriod"/>
            </a:pPr>
            <a:r>
              <a:rPr lang="en-GB" sz="2769" dirty="0" smtClean="0">
                <a:solidFill>
                  <a:srgbClr val="FEFEF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Detection, Plate Extraction</a:t>
            </a:r>
          </a:p>
          <a:p>
            <a:pPr marL="514350" lvl="0" indent="-514350" algn="l">
              <a:lnSpc>
                <a:spcPts val="3877"/>
              </a:lnSpc>
              <a:spcBef>
                <a:spcPct val="0"/>
              </a:spcBef>
              <a:buAutoNum type="arabicPeriod"/>
            </a:pPr>
            <a:r>
              <a:rPr lang="en-GB" sz="2769" dirty="0" smtClean="0">
                <a:solidFill>
                  <a:srgbClr val="FEFEF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Plate text + violation Image</a:t>
            </a:r>
          </a:p>
          <a:p>
            <a:pPr marL="514350" lvl="0" indent="-514350" algn="l">
              <a:lnSpc>
                <a:spcPts val="3877"/>
              </a:lnSpc>
              <a:spcBef>
                <a:spcPct val="0"/>
              </a:spcBef>
              <a:buAutoNum type="arabicPeriod"/>
            </a:pPr>
            <a:endParaRPr lang="en-GB" sz="2000" dirty="0">
              <a:solidFill>
                <a:srgbClr val="FEFEFE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  <a:p>
            <a:pPr lvl="0" algn="ctr">
              <a:lnSpc>
                <a:spcPts val="3877"/>
              </a:lnSpc>
              <a:spcBef>
                <a:spcPct val="0"/>
              </a:spcBef>
            </a:pPr>
            <a:r>
              <a:rPr lang="en-GB" sz="2400" b="1" dirty="0" smtClean="0">
                <a:solidFill>
                  <a:srgbClr val="76CEE4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=&gt; Muhammad BSSE25002</a:t>
            </a:r>
            <a:endParaRPr lang="en-US" sz="2000" b="1" dirty="0">
              <a:solidFill>
                <a:srgbClr val="76CEE4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5069986" y="5876925"/>
            <a:ext cx="3462134" cy="8637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59"/>
              </a:lnSpc>
              <a:spcBef>
                <a:spcPct val="0"/>
              </a:spcBef>
            </a:pPr>
            <a:r>
              <a:rPr lang="en-US" sz="2799" b="1" dirty="0" smtClean="0">
                <a:solidFill>
                  <a:srgbClr val="1CABB0"/>
                </a:soli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Part_2: Database Manager</a:t>
            </a:r>
            <a:endParaRPr lang="en-US" sz="2799" b="1" dirty="0">
              <a:solidFill>
                <a:srgbClr val="1CABB0"/>
              </a:solidFill>
              <a:latin typeface="Atkinson Hyperlegible Bold"/>
              <a:ea typeface="Atkinson Hyperlegible Bold"/>
              <a:cs typeface="Atkinson Hyperlegible Bold"/>
              <a:sym typeface="Atkinson Hyperlegible Bold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5069986" y="6734157"/>
            <a:ext cx="3462134" cy="3500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14350" lvl="0" indent="-514350" algn="l">
              <a:lnSpc>
                <a:spcPts val="3877"/>
              </a:lnSpc>
              <a:spcBef>
                <a:spcPct val="0"/>
              </a:spcBef>
              <a:buAutoNum type="arabicPeriod"/>
            </a:pPr>
            <a:r>
              <a:rPr lang="en-GB" sz="2400" dirty="0" smtClean="0">
                <a:solidFill>
                  <a:srgbClr val="FEFEF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Entries, Fetching, Setup</a:t>
            </a:r>
          </a:p>
          <a:p>
            <a:pPr marL="514350" lvl="0" indent="-514350" algn="l">
              <a:lnSpc>
                <a:spcPts val="3877"/>
              </a:lnSpc>
              <a:spcBef>
                <a:spcPct val="0"/>
              </a:spcBef>
              <a:buAutoNum type="arabicPeriod"/>
            </a:pPr>
            <a:r>
              <a:rPr lang="en-GB" sz="2400" dirty="0" smtClean="0">
                <a:solidFill>
                  <a:srgbClr val="FEFEF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JSON entries, Data extraction, Dynamic Array Manager</a:t>
            </a:r>
          </a:p>
          <a:p>
            <a:pPr lvl="0" algn="l">
              <a:lnSpc>
                <a:spcPts val="3877"/>
              </a:lnSpc>
              <a:spcBef>
                <a:spcPct val="0"/>
              </a:spcBef>
            </a:pPr>
            <a:endParaRPr lang="en-GB" sz="2400" dirty="0" smtClean="0">
              <a:solidFill>
                <a:srgbClr val="FEFEFE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  <a:p>
            <a:pPr algn="ctr">
              <a:lnSpc>
                <a:spcPts val="3877"/>
              </a:lnSpc>
              <a:spcBef>
                <a:spcPct val="0"/>
              </a:spcBef>
            </a:pPr>
            <a:r>
              <a:rPr lang="en-GB" sz="2400" b="1" dirty="0" smtClean="0">
                <a:solidFill>
                  <a:srgbClr val="76CEE4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=&gt; </a:t>
            </a:r>
            <a:r>
              <a:rPr lang="en-GB" sz="2400" b="1" dirty="0" err="1" smtClean="0">
                <a:solidFill>
                  <a:srgbClr val="76CEE4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Minahil</a:t>
            </a:r>
            <a:r>
              <a:rPr lang="en-GB" sz="2400" b="1" dirty="0" smtClean="0">
                <a:solidFill>
                  <a:srgbClr val="76CEE4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BSSE25045</a:t>
            </a:r>
            <a:endParaRPr lang="en-US" sz="2400" b="1" dirty="0">
              <a:solidFill>
                <a:srgbClr val="76CEE4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13455964" y="5889879"/>
            <a:ext cx="3300209" cy="4360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59"/>
              </a:lnSpc>
              <a:spcBef>
                <a:spcPct val="0"/>
              </a:spcBef>
            </a:pPr>
            <a:r>
              <a:rPr lang="en-US" sz="2799" b="1" dirty="0" smtClean="0">
                <a:solidFill>
                  <a:srgbClr val="1CABB0"/>
                </a:soli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Part_3: </a:t>
            </a:r>
            <a:r>
              <a:rPr lang="en-US" sz="2799" b="1" dirty="0" err="1" smtClean="0">
                <a:solidFill>
                  <a:srgbClr val="1CABB0"/>
                </a:soli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GUI+Email</a:t>
            </a:r>
            <a:endParaRPr lang="en-US" sz="2799" b="1" dirty="0">
              <a:solidFill>
                <a:srgbClr val="1CABB0"/>
              </a:solidFill>
              <a:latin typeface="Atkinson Hyperlegible Bold"/>
              <a:ea typeface="Atkinson Hyperlegible Bold"/>
              <a:cs typeface="Atkinson Hyperlegible Bold"/>
              <a:sym typeface="Atkinson Hyperlegible Bold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13448913" y="6762732"/>
            <a:ext cx="3389221" cy="26161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57200" indent="-457200" algn="l">
              <a:lnSpc>
                <a:spcPts val="3359"/>
              </a:lnSpc>
              <a:buAutoNum type="arabicPeriod"/>
            </a:pPr>
            <a:r>
              <a:rPr lang="en-GB" sz="2400" dirty="0" smtClean="0">
                <a:solidFill>
                  <a:srgbClr val="FEFEF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GUI setups for the project</a:t>
            </a:r>
          </a:p>
          <a:p>
            <a:pPr marL="457200" indent="-457200" algn="l">
              <a:lnSpc>
                <a:spcPts val="3359"/>
              </a:lnSpc>
              <a:buAutoNum type="arabicPeriod"/>
            </a:pPr>
            <a:r>
              <a:rPr lang="en-GB" sz="2400" dirty="0" smtClean="0">
                <a:solidFill>
                  <a:srgbClr val="FEFEF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Email Notifications to the users</a:t>
            </a:r>
          </a:p>
          <a:p>
            <a:pPr marL="457200" indent="-457200" algn="l">
              <a:lnSpc>
                <a:spcPts val="3359"/>
              </a:lnSpc>
              <a:buAutoNum type="arabicPeriod"/>
            </a:pPr>
            <a:endParaRPr lang="en-GB" sz="2400" dirty="0">
              <a:solidFill>
                <a:srgbClr val="FEFEFE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  <a:p>
            <a:pPr algn="ctr">
              <a:lnSpc>
                <a:spcPts val="3359"/>
              </a:lnSpc>
            </a:pPr>
            <a:r>
              <a:rPr lang="en-GB" sz="2400" b="1" dirty="0" smtClean="0">
                <a:solidFill>
                  <a:srgbClr val="76CEE4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=&gt; Fatima BSSE25013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9210675" y="5889879"/>
            <a:ext cx="3485763" cy="4360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59"/>
              </a:lnSpc>
              <a:spcBef>
                <a:spcPct val="0"/>
              </a:spcBef>
            </a:pPr>
            <a:r>
              <a:rPr lang="en-US" sz="2799" b="1" dirty="0" smtClean="0">
                <a:solidFill>
                  <a:srgbClr val="1CABB0"/>
                </a:soli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Part_3: Finances</a:t>
            </a:r>
            <a:endParaRPr lang="en-US" sz="2799" b="1" dirty="0">
              <a:solidFill>
                <a:srgbClr val="1CABB0"/>
              </a:solidFill>
              <a:latin typeface="Atkinson Hyperlegible Bold"/>
              <a:ea typeface="Atkinson Hyperlegible Bold"/>
              <a:cs typeface="Atkinson Hyperlegible Bold"/>
              <a:sym typeface="Atkinson Hyperlegible Bold"/>
            </a:endParaRPr>
          </a:p>
        </p:txBody>
      </p:sp>
      <p:sp>
        <p:nvSpPr>
          <p:cNvPr id="26" name="TextBox 26"/>
          <p:cNvSpPr txBox="1"/>
          <p:nvPr/>
        </p:nvSpPr>
        <p:spPr>
          <a:xfrm>
            <a:off x="9210675" y="6762732"/>
            <a:ext cx="3485763" cy="30008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14350" indent="-514350" algn="l">
              <a:lnSpc>
                <a:spcPts val="3877"/>
              </a:lnSpc>
              <a:buAutoNum type="arabicPeriod"/>
            </a:pPr>
            <a:r>
              <a:rPr lang="en-GB" sz="2769" dirty="0" smtClean="0">
                <a:solidFill>
                  <a:srgbClr val="FEFEF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Bank Management, </a:t>
            </a:r>
          </a:p>
          <a:p>
            <a:pPr marL="514350" indent="-514350" algn="l">
              <a:lnSpc>
                <a:spcPts val="3877"/>
              </a:lnSpc>
              <a:buAutoNum type="arabicPeriod"/>
            </a:pPr>
            <a:r>
              <a:rPr lang="en-GB" sz="2769" dirty="0" smtClean="0">
                <a:solidFill>
                  <a:srgbClr val="FEFEF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Challan Payments, Accounts Management</a:t>
            </a:r>
          </a:p>
          <a:p>
            <a:pPr marL="514350" indent="-514350" algn="l">
              <a:lnSpc>
                <a:spcPts val="3877"/>
              </a:lnSpc>
              <a:buAutoNum type="arabicPeriod"/>
            </a:pPr>
            <a:endParaRPr lang="en-GB" sz="2000" dirty="0">
              <a:solidFill>
                <a:srgbClr val="FEFEFE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  <a:p>
            <a:pPr algn="ctr">
              <a:lnSpc>
                <a:spcPts val="3877"/>
              </a:lnSpc>
            </a:pPr>
            <a:r>
              <a:rPr lang="en-GB" sz="2400" b="1" dirty="0" smtClean="0">
                <a:solidFill>
                  <a:srgbClr val="76CEE4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=&gt; </a:t>
            </a:r>
            <a:r>
              <a:rPr lang="en-GB" sz="2400" b="1" dirty="0" err="1" smtClean="0">
                <a:solidFill>
                  <a:srgbClr val="76CEE4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Eman</a:t>
            </a:r>
            <a:r>
              <a:rPr lang="en-GB" sz="2400" b="1" dirty="0" smtClean="0">
                <a:solidFill>
                  <a:srgbClr val="76CEE4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BSSE25038</a:t>
            </a:r>
            <a:endParaRPr lang="en-GB" sz="2400" b="1" dirty="0" smtClean="0">
              <a:solidFill>
                <a:srgbClr val="76CEE4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  <p:sp>
        <p:nvSpPr>
          <p:cNvPr id="27" name="AutoShape 27"/>
          <p:cNvSpPr/>
          <p:nvPr/>
        </p:nvSpPr>
        <p:spPr>
          <a:xfrm>
            <a:off x="4641985" y="5485434"/>
            <a:ext cx="0" cy="4522588"/>
          </a:xfrm>
          <a:prstGeom prst="line">
            <a:avLst/>
          </a:prstGeom>
          <a:ln w="76200" cap="flat">
            <a:solidFill>
              <a:srgbClr val="1CABB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8" name="AutoShape 28"/>
          <p:cNvSpPr/>
          <p:nvPr/>
        </p:nvSpPr>
        <p:spPr>
          <a:xfrm>
            <a:off x="8776148" y="5485434"/>
            <a:ext cx="0" cy="4522588"/>
          </a:xfrm>
          <a:prstGeom prst="line">
            <a:avLst/>
          </a:prstGeom>
          <a:ln w="76200" cap="flat">
            <a:solidFill>
              <a:srgbClr val="1CABB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9" name="AutoShape 29"/>
          <p:cNvSpPr/>
          <p:nvPr/>
        </p:nvSpPr>
        <p:spPr>
          <a:xfrm>
            <a:off x="13106400" y="5485434"/>
            <a:ext cx="0" cy="4522588"/>
          </a:xfrm>
          <a:prstGeom prst="line">
            <a:avLst/>
          </a:prstGeom>
          <a:ln w="76200" cap="flat">
            <a:solidFill>
              <a:srgbClr val="1CABB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0" name="Freeform 11"/>
          <p:cNvSpPr/>
          <p:nvPr/>
        </p:nvSpPr>
        <p:spPr>
          <a:xfrm rot="-10800000">
            <a:off x="12401753" y="-554667"/>
            <a:ext cx="7134225" cy="2231067"/>
          </a:xfrm>
          <a:custGeom>
            <a:avLst/>
            <a:gdLst/>
            <a:ahLst/>
            <a:cxnLst/>
            <a:rect l="l" t="t" r="r" b="b"/>
            <a:pathLst>
              <a:path w="7134225" h="2231067">
                <a:moveTo>
                  <a:pt x="0" y="0"/>
                </a:moveTo>
                <a:lnTo>
                  <a:pt x="7134225" y="0"/>
                </a:lnTo>
                <a:lnTo>
                  <a:pt x="7134225" y="2231067"/>
                </a:lnTo>
                <a:lnTo>
                  <a:pt x="0" y="2231067"/>
                </a:lnTo>
                <a:lnTo>
                  <a:pt x="0" y="0"/>
                </a:lnTo>
                <a:close/>
              </a:path>
            </a:pathLst>
          </a:custGeom>
          <a:blipFill dpi="0" rotWithShape="1">
            <a:blip r:embed="rId6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colorTemperature colorTemp="4700"/>
                      </a14:imgEffect>
                      <a14:imgEffect>
                        <a14:saturation sat="395000"/>
                      </a14:imgEffect>
                    </a14:imgLayer>
                  </a14:imgProps>
                </a:ex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rcRect/>
            <a:stretch>
              <a:fillRect/>
            </a:stretch>
          </a:blipFill>
        </p:spPr>
      </p:sp>
      <p:sp>
        <p:nvSpPr>
          <p:cNvPr id="31" name="Freeform 16"/>
          <p:cNvSpPr/>
          <p:nvPr/>
        </p:nvSpPr>
        <p:spPr>
          <a:xfrm rot="-10800000">
            <a:off x="5576887" y="-467833"/>
            <a:ext cx="7134225" cy="2231067"/>
          </a:xfrm>
          <a:custGeom>
            <a:avLst/>
            <a:gdLst/>
            <a:ahLst/>
            <a:cxnLst/>
            <a:rect l="l" t="t" r="r" b="b"/>
            <a:pathLst>
              <a:path w="7134225" h="2231067">
                <a:moveTo>
                  <a:pt x="0" y="0"/>
                </a:moveTo>
                <a:lnTo>
                  <a:pt x="7134225" y="0"/>
                </a:lnTo>
                <a:lnTo>
                  <a:pt x="7134225" y="2231066"/>
                </a:lnTo>
                <a:lnTo>
                  <a:pt x="0" y="223106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colorTemperature colorTemp="4700"/>
                      </a14:imgEffect>
                    </a14:imgLayer>
                  </a14:imgProps>
                </a:ex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2" name="Freeform 17"/>
          <p:cNvSpPr/>
          <p:nvPr/>
        </p:nvSpPr>
        <p:spPr>
          <a:xfrm rot="-10800000">
            <a:off x="-1247978" y="-381000"/>
            <a:ext cx="7134225" cy="2231067"/>
          </a:xfrm>
          <a:custGeom>
            <a:avLst/>
            <a:gdLst/>
            <a:ahLst/>
            <a:cxnLst/>
            <a:rect l="l" t="t" r="r" b="b"/>
            <a:pathLst>
              <a:path w="7134225" h="2231067">
                <a:moveTo>
                  <a:pt x="0" y="0"/>
                </a:moveTo>
                <a:lnTo>
                  <a:pt x="7134225" y="0"/>
                </a:lnTo>
                <a:lnTo>
                  <a:pt x="7134225" y="2231067"/>
                </a:lnTo>
                <a:lnTo>
                  <a:pt x="0" y="223106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colorTemperature colorTemp="4700"/>
                      </a14:imgEffect>
                    </a14:imgLayer>
                  </a14:imgProps>
                </a:ex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ABB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2133600" y="5127460"/>
            <a:ext cx="16154400" cy="92240"/>
          </a:xfrm>
          <a:prstGeom prst="line">
            <a:avLst/>
          </a:prstGeom>
          <a:ln w="19050" cap="flat">
            <a:solidFill>
              <a:srgbClr val="00143D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3" name="Group 3"/>
          <p:cNvGrpSpPr/>
          <p:nvPr/>
        </p:nvGrpSpPr>
        <p:grpSpPr>
          <a:xfrm>
            <a:off x="1928618" y="4948238"/>
            <a:ext cx="323850" cy="323850"/>
            <a:chOff x="0" y="0"/>
            <a:chExt cx="6350000" cy="63500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00143D"/>
            </a:solidFill>
          </p:spPr>
        </p:sp>
      </p:grpSp>
      <p:grpSp>
        <p:nvGrpSpPr>
          <p:cNvPr id="5" name="Group 5"/>
          <p:cNvGrpSpPr/>
          <p:nvPr/>
        </p:nvGrpSpPr>
        <p:grpSpPr>
          <a:xfrm>
            <a:off x="6515303" y="5048250"/>
            <a:ext cx="323850" cy="323850"/>
            <a:chOff x="0" y="0"/>
            <a:chExt cx="6350000" cy="63500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00143D"/>
            </a:solidFill>
          </p:spPr>
        </p:sp>
      </p:grpSp>
      <p:grpSp>
        <p:nvGrpSpPr>
          <p:cNvPr id="7" name="Group 7"/>
          <p:cNvGrpSpPr/>
          <p:nvPr/>
        </p:nvGrpSpPr>
        <p:grpSpPr>
          <a:xfrm>
            <a:off x="10648756" y="5048250"/>
            <a:ext cx="323850" cy="323850"/>
            <a:chOff x="0" y="0"/>
            <a:chExt cx="6350000" cy="63500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00143D"/>
            </a:solidFill>
          </p:spPr>
        </p:sp>
      </p:grpSp>
      <p:grpSp>
        <p:nvGrpSpPr>
          <p:cNvPr id="9" name="Group 9"/>
          <p:cNvGrpSpPr/>
          <p:nvPr/>
        </p:nvGrpSpPr>
        <p:grpSpPr>
          <a:xfrm>
            <a:off x="14829198" y="5048250"/>
            <a:ext cx="323850" cy="323850"/>
            <a:chOff x="0" y="0"/>
            <a:chExt cx="6350000" cy="63500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00143D"/>
            </a:solidFill>
          </p:spPr>
        </p:sp>
      </p:grpSp>
      <p:sp>
        <p:nvSpPr>
          <p:cNvPr id="11" name="Freeform 11"/>
          <p:cNvSpPr/>
          <p:nvPr/>
        </p:nvSpPr>
        <p:spPr>
          <a:xfrm rot="-10800000">
            <a:off x="12401753" y="-554667"/>
            <a:ext cx="7134225" cy="2231067"/>
          </a:xfrm>
          <a:custGeom>
            <a:avLst/>
            <a:gdLst/>
            <a:ahLst/>
            <a:cxnLst/>
            <a:rect l="l" t="t" r="r" b="b"/>
            <a:pathLst>
              <a:path w="7134225" h="2231067">
                <a:moveTo>
                  <a:pt x="0" y="0"/>
                </a:moveTo>
                <a:lnTo>
                  <a:pt x="7134225" y="0"/>
                </a:lnTo>
                <a:lnTo>
                  <a:pt x="7134225" y="2231067"/>
                </a:lnTo>
                <a:lnTo>
                  <a:pt x="0" y="22310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12" name="Group 12"/>
          <p:cNvGrpSpPr/>
          <p:nvPr/>
        </p:nvGrpSpPr>
        <p:grpSpPr>
          <a:xfrm>
            <a:off x="17499545" y="535253"/>
            <a:ext cx="493447" cy="493447"/>
            <a:chOff x="0" y="0"/>
            <a:chExt cx="657929" cy="657929"/>
          </a:xfrm>
        </p:grpSpPr>
        <p:grpSp>
          <p:nvGrpSpPr>
            <p:cNvPr id="13" name="Group 13"/>
            <p:cNvGrpSpPr>
              <a:grpSpLocks noChangeAspect="1"/>
            </p:cNvGrpSpPr>
            <p:nvPr/>
          </p:nvGrpSpPr>
          <p:grpSpPr>
            <a:xfrm>
              <a:off x="0" y="0"/>
              <a:ext cx="657929" cy="657929"/>
              <a:chOff x="0" y="0"/>
              <a:chExt cx="6355080" cy="6355080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0" y="0"/>
                <a:ext cx="6355080" cy="6355080"/>
              </a:xfrm>
              <a:custGeom>
                <a:avLst/>
                <a:gdLst/>
                <a:ahLst/>
                <a:cxnLst/>
                <a:rect l="l" t="t" r="r" b="b"/>
                <a:pathLst>
                  <a:path w="6355080" h="6355080">
                    <a:moveTo>
                      <a:pt x="3177540" y="6355080"/>
                    </a:moveTo>
                    <a:cubicBezTo>
                      <a:pt x="2329180" y="6355080"/>
                      <a:pt x="1530350" y="6024880"/>
                      <a:pt x="930910" y="5424170"/>
                    </a:cubicBezTo>
                    <a:cubicBezTo>
                      <a:pt x="330200" y="4824730"/>
                      <a:pt x="0" y="4025900"/>
                      <a:pt x="0" y="3177540"/>
                    </a:cubicBezTo>
                    <a:cubicBezTo>
                      <a:pt x="0" y="2329180"/>
                      <a:pt x="330200" y="1530350"/>
                      <a:pt x="930910" y="930910"/>
                    </a:cubicBezTo>
                    <a:cubicBezTo>
                      <a:pt x="1530350" y="330200"/>
                      <a:pt x="2329180" y="0"/>
                      <a:pt x="3177540" y="0"/>
                    </a:cubicBezTo>
                    <a:cubicBezTo>
                      <a:pt x="4025900" y="0"/>
                      <a:pt x="4824730" y="330200"/>
                      <a:pt x="5424170" y="930910"/>
                    </a:cubicBezTo>
                    <a:cubicBezTo>
                      <a:pt x="6024880" y="1531620"/>
                      <a:pt x="6355080" y="2329180"/>
                      <a:pt x="6355080" y="3177540"/>
                    </a:cubicBezTo>
                    <a:cubicBezTo>
                      <a:pt x="6355080" y="4025900"/>
                      <a:pt x="6024880" y="4824730"/>
                      <a:pt x="5424170" y="5424170"/>
                    </a:cubicBezTo>
                    <a:cubicBezTo>
                      <a:pt x="4824730" y="6024880"/>
                      <a:pt x="4025900" y="6355080"/>
                      <a:pt x="3177540" y="6355080"/>
                    </a:cubicBezTo>
                    <a:close/>
                    <a:moveTo>
                      <a:pt x="3177540" y="190500"/>
                    </a:moveTo>
                    <a:cubicBezTo>
                      <a:pt x="2379980" y="190500"/>
                      <a:pt x="1629410" y="501650"/>
                      <a:pt x="1065530" y="1065530"/>
                    </a:cubicBezTo>
                    <a:cubicBezTo>
                      <a:pt x="501650" y="1629410"/>
                      <a:pt x="190500" y="2379980"/>
                      <a:pt x="190500" y="3177540"/>
                    </a:cubicBezTo>
                    <a:cubicBezTo>
                      <a:pt x="190500" y="3975100"/>
                      <a:pt x="501650" y="4725670"/>
                      <a:pt x="1065530" y="5289550"/>
                    </a:cubicBezTo>
                    <a:cubicBezTo>
                      <a:pt x="1629410" y="5853430"/>
                      <a:pt x="2379980" y="6164580"/>
                      <a:pt x="3177540" y="6164580"/>
                    </a:cubicBezTo>
                    <a:cubicBezTo>
                      <a:pt x="3975100" y="6164580"/>
                      <a:pt x="4725670" y="5853430"/>
                      <a:pt x="5289550" y="5289550"/>
                    </a:cubicBezTo>
                    <a:cubicBezTo>
                      <a:pt x="5853430" y="4725670"/>
                      <a:pt x="6164580" y="3975100"/>
                      <a:pt x="6164580" y="3177540"/>
                    </a:cubicBezTo>
                    <a:cubicBezTo>
                      <a:pt x="6164580" y="2379980"/>
                      <a:pt x="5853430" y="1629410"/>
                      <a:pt x="5289550" y="1065530"/>
                    </a:cubicBezTo>
                    <a:cubicBezTo>
                      <a:pt x="4725670" y="501650"/>
                      <a:pt x="3975100" y="190500"/>
                      <a:pt x="3177540" y="190500"/>
                    </a:cubicBezTo>
                    <a:close/>
                  </a:path>
                </a:pathLst>
              </a:custGeom>
              <a:solidFill>
                <a:srgbClr val="E83A3C"/>
              </a:solidFill>
            </p:spPr>
          </p:sp>
        </p:grpSp>
        <p:sp>
          <p:nvSpPr>
            <p:cNvPr id="15" name="Freeform 15"/>
            <p:cNvSpPr/>
            <p:nvPr/>
          </p:nvSpPr>
          <p:spPr>
            <a:xfrm rot="5400000">
              <a:off x="109655" y="109655"/>
              <a:ext cx="438619" cy="438619"/>
            </a:xfrm>
            <a:custGeom>
              <a:avLst/>
              <a:gdLst/>
              <a:ahLst/>
              <a:cxnLst/>
              <a:rect l="l" t="t" r="r" b="b"/>
              <a:pathLst>
                <a:path w="438619" h="438619">
                  <a:moveTo>
                    <a:pt x="0" y="0"/>
                  </a:moveTo>
                  <a:lnTo>
                    <a:pt x="438619" y="0"/>
                  </a:lnTo>
                  <a:lnTo>
                    <a:pt x="438619" y="438619"/>
                  </a:lnTo>
                  <a:lnTo>
                    <a:pt x="0" y="4386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=""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16" name="Freeform 16"/>
          <p:cNvSpPr/>
          <p:nvPr/>
        </p:nvSpPr>
        <p:spPr>
          <a:xfrm rot="-10800000">
            <a:off x="5576887" y="-467833"/>
            <a:ext cx="7134225" cy="2231067"/>
          </a:xfrm>
          <a:custGeom>
            <a:avLst/>
            <a:gdLst/>
            <a:ahLst/>
            <a:cxnLst/>
            <a:rect l="l" t="t" r="r" b="b"/>
            <a:pathLst>
              <a:path w="7134225" h="2231067">
                <a:moveTo>
                  <a:pt x="0" y="0"/>
                </a:moveTo>
                <a:lnTo>
                  <a:pt x="7134225" y="0"/>
                </a:lnTo>
                <a:lnTo>
                  <a:pt x="7134225" y="2231066"/>
                </a:lnTo>
                <a:lnTo>
                  <a:pt x="0" y="223106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7" name="Freeform 17"/>
          <p:cNvSpPr/>
          <p:nvPr/>
        </p:nvSpPr>
        <p:spPr>
          <a:xfrm rot="-10800000">
            <a:off x="-1247978" y="-381000"/>
            <a:ext cx="7134225" cy="2231067"/>
          </a:xfrm>
          <a:custGeom>
            <a:avLst/>
            <a:gdLst/>
            <a:ahLst/>
            <a:cxnLst/>
            <a:rect l="l" t="t" r="r" b="b"/>
            <a:pathLst>
              <a:path w="7134225" h="2231067">
                <a:moveTo>
                  <a:pt x="0" y="0"/>
                </a:moveTo>
                <a:lnTo>
                  <a:pt x="7134225" y="0"/>
                </a:lnTo>
                <a:lnTo>
                  <a:pt x="7134225" y="2231067"/>
                </a:lnTo>
                <a:lnTo>
                  <a:pt x="0" y="22310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1028700" y="2160395"/>
            <a:ext cx="16230600" cy="2090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7994"/>
              </a:lnSpc>
            </a:pPr>
            <a:r>
              <a:rPr lang="en-US" sz="8689" b="1" dirty="0">
                <a:solidFill>
                  <a:srgbClr val="00143D"/>
                </a:soli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Task List (Detailed Breakdown)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816145" y="5853578"/>
            <a:ext cx="3340688" cy="838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59"/>
              </a:lnSpc>
              <a:spcBef>
                <a:spcPct val="0"/>
              </a:spcBef>
            </a:pPr>
            <a:r>
              <a:rPr lang="en-US" sz="2799" b="1">
                <a:solidFill>
                  <a:srgbClr val="00143D"/>
                </a:soli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Phase 1 — System Setup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16145" y="6723782"/>
            <a:ext cx="3397838" cy="14345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877"/>
              </a:lnSpc>
              <a:spcBef>
                <a:spcPct val="0"/>
              </a:spcBef>
            </a:pPr>
            <a:r>
              <a:rPr lang="en-US" sz="2769">
                <a:solidFill>
                  <a:srgbClr val="FEFEF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Set up project structure &amp; file-based pseudo databases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5069986" y="5876925"/>
            <a:ext cx="3462134" cy="838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59"/>
              </a:lnSpc>
              <a:spcBef>
                <a:spcPct val="0"/>
              </a:spcBef>
            </a:pPr>
            <a:r>
              <a:rPr lang="en-US" sz="2799" b="1">
                <a:solidFill>
                  <a:srgbClr val="00143D"/>
                </a:soli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Phase 2 — Image &amp; Camera Processing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5069986" y="6734157"/>
            <a:ext cx="3462134" cy="14345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877"/>
              </a:lnSpc>
              <a:spcBef>
                <a:spcPct val="0"/>
              </a:spcBef>
            </a:pPr>
            <a:r>
              <a:rPr lang="en-US" sz="2769">
                <a:solidFill>
                  <a:srgbClr val="FEFEF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Implement camera/image input handling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3455964" y="5889879"/>
            <a:ext cx="3300209" cy="838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59"/>
              </a:lnSpc>
              <a:spcBef>
                <a:spcPct val="0"/>
              </a:spcBef>
            </a:pPr>
            <a:r>
              <a:rPr lang="en-US" sz="2799" b="1">
                <a:solidFill>
                  <a:srgbClr val="00143D"/>
                </a:soli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Phase 4 — Pseudo Databases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3448913" y="6762732"/>
            <a:ext cx="3389221" cy="16630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FEFEF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• Build registration, challan &amp; bank data files</a:t>
            </a:r>
          </a:p>
          <a:p>
            <a:pPr marL="0" lvl="0" indent="0" algn="l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FEFEF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• Add dynamic array-based financial records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9210675" y="5889879"/>
            <a:ext cx="3485763" cy="838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59"/>
              </a:lnSpc>
              <a:spcBef>
                <a:spcPct val="0"/>
              </a:spcBef>
            </a:pPr>
            <a:r>
              <a:rPr lang="en-US" sz="2799" b="1">
                <a:solidFill>
                  <a:srgbClr val="00143D"/>
                </a:soli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Phase 3 — Violation Detection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9210675" y="6762732"/>
            <a:ext cx="3485763" cy="1920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77"/>
              </a:lnSpc>
            </a:pPr>
            <a:r>
              <a:rPr lang="en-US" sz="2769">
                <a:solidFill>
                  <a:srgbClr val="FEFEF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Rule-based logic</a:t>
            </a:r>
          </a:p>
          <a:p>
            <a:pPr marL="0" lvl="0" indent="0" algn="l">
              <a:lnSpc>
                <a:spcPts val="3877"/>
              </a:lnSpc>
              <a:spcBef>
                <a:spcPct val="0"/>
              </a:spcBef>
            </a:pPr>
            <a:r>
              <a:rPr lang="en-US" sz="2769">
                <a:solidFill>
                  <a:srgbClr val="FEFEF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– Detects traffic violations automatically</a:t>
            </a:r>
          </a:p>
        </p:txBody>
      </p:sp>
      <p:sp>
        <p:nvSpPr>
          <p:cNvPr id="27" name="AutoShape 27"/>
          <p:cNvSpPr/>
          <p:nvPr/>
        </p:nvSpPr>
        <p:spPr>
          <a:xfrm>
            <a:off x="4641985" y="5485434"/>
            <a:ext cx="0" cy="4522588"/>
          </a:xfrm>
          <a:prstGeom prst="line">
            <a:avLst/>
          </a:prstGeom>
          <a:ln w="76200" cap="flat">
            <a:solidFill>
              <a:srgbClr val="00143D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8" name="AutoShape 28"/>
          <p:cNvSpPr/>
          <p:nvPr/>
        </p:nvSpPr>
        <p:spPr>
          <a:xfrm>
            <a:off x="8776148" y="5485434"/>
            <a:ext cx="0" cy="4522588"/>
          </a:xfrm>
          <a:prstGeom prst="line">
            <a:avLst/>
          </a:prstGeom>
          <a:ln w="76200" cap="flat">
            <a:solidFill>
              <a:srgbClr val="00143D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9" name="AutoShape 29"/>
          <p:cNvSpPr/>
          <p:nvPr/>
        </p:nvSpPr>
        <p:spPr>
          <a:xfrm>
            <a:off x="13072675" y="5485434"/>
            <a:ext cx="0" cy="4522588"/>
          </a:xfrm>
          <a:prstGeom prst="line">
            <a:avLst/>
          </a:prstGeom>
          <a:ln w="76200" cap="flat">
            <a:solidFill>
              <a:srgbClr val="00143D"/>
            </a:solidFill>
            <a:prstDash val="solid"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2329221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ABB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5110163"/>
            <a:ext cx="16597918" cy="0"/>
          </a:xfrm>
          <a:prstGeom prst="line">
            <a:avLst/>
          </a:prstGeom>
          <a:ln w="19050" cap="flat">
            <a:solidFill>
              <a:srgbClr val="00143D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5" name="Group 5"/>
          <p:cNvGrpSpPr/>
          <p:nvPr/>
        </p:nvGrpSpPr>
        <p:grpSpPr>
          <a:xfrm>
            <a:off x="1463213" y="4928256"/>
            <a:ext cx="323850" cy="323850"/>
            <a:chOff x="0" y="0"/>
            <a:chExt cx="6350000" cy="63500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00143D"/>
            </a:solidFill>
          </p:spPr>
        </p:sp>
      </p:grpSp>
      <p:grpSp>
        <p:nvGrpSpPr>
          <p:cNvPr id="7" name="Group 7"/>
          <p:cNvGrpSpPr/>
          <p:nvPr/>
        </p:nvGrpSpPr>
        <p:grpSpPr>
          <a:xfrm>
            <a:off x="5759829" y="4948238"/>
            <a:ext cx="323850" cy="323850"/>
            <a:chOff x="0" y="0"/>
            <a:chExt cx="6350000" cy="63500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00143D"/>
            </a:solidFill>
          </p:spPr>
        </p:sp>
      </p:grpSp>
      <p:grpSp>
        <p:nvGrpSpPr>
          <p:cNvPr id="9" name="Group 9"/>
          <p:cNvGrpSpPr/>
          <p:nvPr/>
        </p:nvGrpSpPr>
        <p:grpSpPr>
          <a:xfrm>
            <a:off x="16597918" y="4948238"/>
            <a:ext cx="323850" cy="323850"/>
            <a:chOff x="0" y="0"/>
            <a:chExt cx="6350000" cy="63500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00143D"/>
            </a:solidFill>
          </p:spPr>
        </p:sp>
      </p:grpSp>
      <p:sp>
        <p:nvSpPr>
          <p:cNvPr id="11" name="Freeform 11"/>
          <p:cNvSpPr/>
          <p:nvPr/>
        </p:nvSpPr>
        <p:spPr>
          <a:xfrm rot="-10800000">
            <a:off x="12401753" y="-554667"/>
            <a:ext cx="7134225" cy="2231067"/>
          </a:xfrm>
          <a:custGeom>
            <a:avLst/>
            <a:gdLst/>
            <a:ahLst/>
            <a:cxnLst/>
            <a:rect l="l" t="t" r="r" b="b"/>
            <a:pathLst>
              <a:path w="7134225" h="2231067">
                <a:moveTo>
                  <a:pt x="0" y="0"/>
                </a:moveTo>
                <a:lnTo>
                  <a:pt x="7134225" y="0"/>
                </a:lnTo>
                <a:lnTo>
                  <a:pt x="7134225" y="2231067"/>
                </a:lnTo>
                <a:lnTo>
                  <a:pt x="0" y="22310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12" name="Group 12"/>
          <p:cNvGrpSpPr/>
          <p:nvPr/>
        </p:nvGrpSpPr>
        <p:grpSpPr>
          <a:xfrm>
            <a:off x="17499545" y="535253"/>
            <a:ext cx="493447" cy="493447"/>
            <a:chOff x="0" y="0"/>
            <a:chExt cx="657929" cy="657929"/>
          </a:xfrm>
        </p:grpSpPr>
        <p:grpSp>
          <p:nvGrpSpPr>
            <p:cNvPr id="13" name="Group 13"/>
            <p:cNvGrpSpPr>
              <a:grpSpLocks noChangeAspect="1"/>
            </p:cNvGrpSpPr>
            <p:nvPr/>
          </p:nvGrpSpPr>
          <p:grpSpPr>
            <a:xfrm>
              <a:off x="0" y="0"/>
              <a:ext cx="657929" cy="657929"/>
              <a:chOff x="0" y="0"/>
              <a:chExt cx="6355080" cy="6355080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0" y="0"/>
                <a:ext cx="6355080" cy="6355080"/>
              </a:xfrm>
              <a:custGeom>
                <a:avLst/>
                <a:gdLst/>
                <a:ahLst/>
                <a:cxnLst/>
                <a:rect l="l" t="t" r="r" b="b"/>
                <a:pathLst>
                  <a:path w="6355080" h="6355080">
                    <a:moveTo>
                      <a:pt x="3177540" y="6355080"/>
                    </a:moveTo>
                    <a:cubicBezTo>
                      <a:pt x="2329180" y="6355080"/>
                      <a:pt x="1530350" y="6024880"/>
                      <a:pt x="930910" y="5424170"/>
                    </a:cubicBezTo>
                    <a:cubicBezTo>
                      <a:pt x="330200" y="4824730"/>
                      <a:pt x="0" y="4025900"/>
                      <a:pt x="0" y="3177540"/>
                    </a:cubicBezTo>
                    <a:cubicBezTo>
                      <a:pt x="0" y="2329180"/>
                      <a:pt x="330200" y="1530350"/>
                      <a:pt x="930910" y="930910"/>
                    </a:cubicBezTo>
                    <a:cubicBezTo>
                      <a:pt x="1530350" y="330200"/>
                      <a:pt x="2329180" y="0"/>
                      <a:pt x="3177540" y="0"/>
                    </a:cubicBezTo>
                    <a:cubicBezTo>
                      <a:pt x="4025900" y="0"/>
                      <a:pt x="4824730" y="330200"/>
                      <a:pt x="5424170" y="930910"/>
                    </a:cubicBezTo>
                    <a:cubicBezTo>
                      <a:pt x="6024880" y="1531620"/>
                      <a:pt x="6355080" y="2329180"/>
                      <a:pt x="6355080" y="3177540"/>
                    </a:cubicBezTo>
                    <a:cubicBezTo>
                      <a:pt x="6355080" y="4025900"/>
                      <a:pt x="6024880" y="4824730"/>
                      <a:pt x="5424170" y="5424170"/>
                    </a:cubicBezTo>
                    <a:cubicBezTo>
                      <a:pt x="4824730" y="6024880"/>
                      <a:pt x="4025900" y="6355080"/>
                      <a:pt x="3177540" y="6355080"/>
                    </a:cubicBezTo>
                    <a:close/>
                    <a:moveTo>
                      <a:pt x="3177540" y="190500"/>
                    </a:moveTo>
                    <a:cubicBezTo>
                      <a:pt x="2379980" y="190500"/>
                      <a:pt x="1629410" y="501650"/>
                      <a:pt x="1065530" y="1065530"/>
                    </a:cubicBezTo>
                    <a:cubicBezTo>
                      <a:pt x="501650" y="1629410"/>
                      <a:pt x="190500" y="2379980"/>
                      <a:pt x="190500" y="3177540"/>
                    </a:cubicBezTo>
                    <a:cubicBezTo>
                      <a:pt x="190500" y="3975100"/>
                      <a:pt x="501650" y="4725670"/>
                      <a:pt x="1065530" y="5289550"/>
                    </a:cubicBezTo>
                    <a:cubicBezTo>
                      <a:pt x="1629410" y="5853430"/>
                      <a:pt x="2379980" y="6164580"/>
                      <a:pt x="3177540" y="6164580"/>
                    </a:cubicBezTo>
                    <a:cubicBezTo>
                      <a:pt x="3975100" y="6164580"/>
                      <a:pt x="4725670" y="5853430"/>
                      <a:pt x="5289550" y="5289550"/>
                    </a:cubicBezTo>
                    <a:cubicBezTo>
                      <a:pt x="5853430" y="4725670"/>
                      <a:pt x="6164580" y="3975100"/>
                      <a:pt x="6164580" y="3177540"/>
                    </a:cubicBezTo>
                    <a:cubicBezTo>
                      <a:pt x="6164580" y="2379980"/>
                      <a:pt x="5853430" y="1629410"/>
                      <a:pt x="5289550" y="1065530"/>
                    </a:cubicBezTo>
                    <a:cubicBezTo>
                      <a:pt x="4725670" y="501650"/>
                      <a:pt x="3975100" y="190500"/>
                      <a:pt x="3177540" y="190500"/>
                    </a:cubicBezTo>
                    <a:close/>
                  </a:path>
                </a:pathLst>
              </a:custGeom>
              <a:solidFill>
                <a:srgbClr val="E83A3C"/>
              </a:solidFill>
            </p:spPr>
          </p:sp>
        </p:grpSp>
        <p:sp>
          <p:nvSpPr>
            <p:cNvPr id="15" name="Freeform 15"/>
            <p:cNvSpPr/>
            <p:nvPr/>
          </p:nvSpPr>
          <p:spPr>
            <a:xfrm rot="5400000">
              <a:off x="109655" y="109655"/>
              <a:ext cx="438619" cy="438619"/>
            </a:xfrm>
            <a:custGeom>
              <a:avLst/>
              <a:gdLst/>
              <a:ahLst/>
              <a:cxnLst/>
              <a:rect l="l" t="t" r="r" b="b"/>
              <a:pathLst>
                <a:path w="438619" h="438619">
                  <a:moveTo>
                    <a:pt x="0" y="0"/>
                  </a:moveTo>
                  <a:lnTo>
                    <a:pt x="438619" y="0"/>
                  </a:lnTo>
                  <a:lnTo>
                    <a:pt x="438619" y="438619"/>
                  </a:lnTo>
                  <a:lnTo>
                    <a:pt x="0" y="4386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=""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16" name="Freeform 16"/>
          <p:cNvSpPr/>
          <p:nvPr/>
        </p:nvSpPr>
        <p:spPr>
          <a:xfrm rot="-10800000">
            <a:off x="5576887" y="-467833"/>
            <a:ext cx="7134225" cy="2231067"/>
          </a:xfrm>
          <a:custGeom>
            <a:avLst/>
            <a:gdLst/>
            <a:ahLst/>
            <a:cxnLst/>
            <a:rect l="l" t="t" r="r" b="b"/>
            <a:pathLst>
              <a:path w="7134225" h="2231067">
                <a:moveTo>
                  <a:pt x="0" y="0"/>
                </a:moveTo>
                <a:lnTo>
                  <a:pt x="7134225" y="0"/>
                </a:lnTo>
                <a:lnTo>
                  <a:pt x="7134225" y="2231066"/>
                </a:lnTo>
                <a:lnTo>
                  <a:pt x="0" y="223106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7" name="Freeform 17"/>
          <p:cNvSpPr/>
          <p:nvPr/>
        </p:nvSpPr>
        <p:spPr>
          <a:xfrm rot="-10800000">
            <a:off x="-1247978" y="-381000"/>
            <a:ext cx="7134225" cy="2231067"/>
          </a:xfrm>
          <a:custGeom>
            <a:avLst/>
            <a:gdLst/>
            <a:ahLst/>
            <a:cxnLst/>
            <a:rect l="l" t="t" r="r" b="b"/>
            <a:pathLst>
              <a:path w="7134225" h="2231067">
                <a:moveTo>
                  <a:pt x="0" y="0"/>
                </a:moveTo>
                <a:lnTo>
                  <a:pt x="7134225" y="0"/>
                </a:lnTo>
                <a:lnTo>
                  <a:pt x="7134225" y="2231067"/>
                </a:lnTo>
                <a:lnTo>
                  <a:pt x="0" y="22310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18" name="Group 18"/>
          <p:cNvGrpSpPr/>
          <p:nvPr/>
        </p:nvGrpSpPr>
        <p:grpSpPr>
          <a:xfrm>
            <a:off x="9634022" y="4948238"/>
            <a:ext cx="323850" cy="323850"/>
            <a:chOff x="0" y="0"/>
            <a:chExt cx="6350000" cy="63500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00143D"/>
            </a:solidFill>
          </p:spPr>
        </p:sp>
      </p:grpSp>
      <p:grpSp>
        <p:nvGrpSpPr>
          <p:cNvPr id="20" name="Group 20"/>
          <p:cNvGrpSpPr/>
          <p:nvPr/>
        </p:nvGrpSpPr>
        <p:grpSpPr>
          <a:xfrm>
            <a:off x="12872319" y="4948238"/>
            <a:ext cx="323850" cy="323850"/>
            <a:chOff x="0" y="0"/>
            <a:chExt cx="6350000" cy="63500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00143D"/>
            </a:solidFill>
          </p:spPr>
        </p:sp>
      </p:grpSp>
      <p:sp>
        <p:nvSpPr>
          <p:cNvPr id="22" name="TextBox 22"/>
          <p:cNvSpPr txBox="1"/>
          <p:nvPr/>
        </p:nvSpPr>
        <p:spPr>
          <a:xfrm>
            <a:off x="1028700" y="2160395"/>
            <a:ext cx="16230600" cy="2090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7994"/>
              </a:lnSpc>
            </a:pPr>
            <a:r>
              <a:rPr lang="en-US" sz="8689" b="1">
                <a:solidFill>
                  <a:srgbClr val="00143D"/>
                </a:soli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Task List (Detailed Breakdown)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284073" y="5853578"/>
            <a:ext cx="3340688" cy="838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59"/>
              </a:lnSpc>
              <a:spcBef>
                <a:spcPct val="0"/>
              </a:spcBef>
            </a:pPr>
            <a:r>
              <a:rPr lang="en-US" sz="2799" b="1">
                <a:solidFill>
                  <a:srgbClr val="00143D"/>
                </a:soli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Phase 5 — Challan Workflow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293598" y="6772257"/>
            <a:ext cx="3935188" cy="28919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77"/>
              </a:lnSpc>
            </a:pPr>
            <a:r>
              <a:rPr lang="en-US" sz="2769">
                <a:solidFill>
                  <a:srgbClr val="FCFCFC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• Generate challans automatically</a:t>
            </a:r>
          </a:p>
          <a:p>
            <a:pPr algn="l">
              <a:lnSpc>
                <a:spcPts val="3877"/>
              </a:lnSpc>
            </a:pPr>
            <a:r>
              <a:rPr lang="en-US" sz="2769">
                <a:solidFill>
                  <a:srgbClr val="FCFCFC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• Save challans in database</a:t>
            </a:r>
          </a:p>
          <a:p>
            <a:pPr marL="0" lvl="0" indent="0" algn="l">
              <a:lnSpc>
                <a:spcPts val="3877"/>
              </a:lnSpc>
              <a:spcBef>
                <a:spcPct val="0"/>
              </a:spcBef>
            </a:pPr>
            <a:r>
              <a:rPr lang="en-US" sz="2769">
                <a:solidFill>
                  <a:srgbClr val="FCFCFC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• Connect challans to owners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4200212" y="5876925"/>
            <a:ext cx="3462134" cy="838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59"/>
              </a:lnSpc>
              <a:spcBef>
                <a:spcPct val="0"/>
              </a:spcBef>
            </a:pPr>
            <a:r>
              <a:rPr lang="en-US" sz="2799" b="1">
                <a:solidFill>
                  <a:srgbClr val="00143D"/>
                </a:soli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Phase 6 — Payment System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4162112" y="6791307"/>
            <a:ext cx="3462134" cy="240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77"/>
              </a:lnSpc>
            </a:pPr>
            <a:r>
              <a:rPr lang="en-US" sz="2769">
                <a:solidFill>
                  <a:srgbClr val="FCFCFC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• Simulate financial transactions</a:t>
            </a:r>
          </a:p>
          <a:p>
            <a:pPr algn="l">
              <a:lnSpc>
                <a:spcPts val="3877"/>
              </a:lnSpc>
            </a:pPr>
            <a:r>
              <a:rPr lang="en-US" sz="2769">
                <a:solidFill>
                  <a:srgbClr val="FCFCFC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• Update payment status</a:t>
            </a:r>
          </a:p>
          <a:p>
            <a:pPr marL="0" lvl="0" indent="0" algn="l">
              <a:lnSpc>
                <a:spcPts val="3877"/>
              </a:lnSpc>
              <a:spcBef>
                <a:spcPct val="0"/>
              </a:spcBef>
            </a:pPr>
            <a:r>
              <a:rPr lang="en-US" sz="2769">
                <a:solidFill>
                  <a:srgbClr val="FCFCFC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• Generate receipts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525769" y="5889879"/>
            <a:ext cx="3300209" cy="838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59"/>
              </a:lnSpc>
              <a:spcBef>
                <a:spcPct val="0"/>
              </a:spcBef>
            </a:pPr>
            <a:r>
              <a:rPr lang="en-US" sz="2799" b="1">
                <a:solidFill>
                  <a:srgbClr val="00143D"/>
                </a:soli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Phase 8 — GUI Development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1518717" y="6819882"/>
            <a:ext cx="3389221" cy="2082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FCFCFC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• Build simple, intuitive interface</a:t>
            </a:r>
          </a:p>
          <a:p>
            <a:pPr marL="0" lvl="0" indent="0" algn="l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FCFCFC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• Add views for registration, challans, payments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7976671" y="5889879"/>
            <a:ext cx="3485763" cy="838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59"/>
              </a:lnSpc>
              <a:spcBef>
                <a:spcPct val="0"/>
              </a:spcBef>
            </a:pPr>
            <a:r>
              <a:rPr lang="en-US" sz="2799" b="1">
                <a:solidFill>
                  <a:srgbClr val="00143D"/>
                </a:soli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Phase 7 — Email Integration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7976671" y="6800832"/>
            <a:ext cx="3485763" cy="1920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77"/>
              </a:lnSpc>
            </a:pPr>
            <a:r>
              <a:rPr lang="en-US" sz="2769">
                <a:solidFill>
                  <a:srgbClr val="FCFCFC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• Implement SMTP service</a:t>
            </a:r>
          </a:p>
          <a:p>
            <a:pPr marL="0" lvl="0" indent="0" algn="l">
              <a:lnSpc>
                <a:spcPts val="3877"/>
              </a:lnSpc>
              <a:spcBef>
                <a:spcPct val="0"/>
              </a:spcBef>
            </a:pPr>
            <a:r>
              <a:rPr lang="en-US" sz="2769">
                <a:solidFill>
                  <a:srgbClr val="FCFCFC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• Auto-send challan notifications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4996950" y="5967413"/>
            <a:ext cx="3300209" cy="4191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59"/>
              </a:lnSpc>
              <a:spcBef>
                <a:spcPct val="0"/>
              </a:spcBef>
            </a:pPr>
            <a:r>
              <a:rPr lang="en-US" sz="2799" b="1">
                <a:solidFill>
                  <a:srgbClr val="00143D"/>
                </a:soli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Phase 9 — Testing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4907938" y="6800832"/>
            <a:ext cx="3471181" cy="25510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41"/>
              </a:lnSpc>
            </a:pPr>
            <a:r>
              <a:rPr lang="en-US" sz="2458">
                <a:solidFill>
                  <a:srgbClr val="FCFCFC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• Test detection with multiple images</a:t>
            </a:r>
          </a:p>
          <a:p>
            <a:pPr algn="l">
              <a:lnSpc>
                <a:spcPts val="3441"/>
              </a:lnSpc>
            </a:pPr>
            <a:r>
              <a:rPr lang="en-US" sz="2458">
                <a:solidFill>
                  <a:srgbClr val="FCFCFC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• Validate payment and email workflow</a:t>
            </a:r>
          </a:p>
          <a:p>
            <a:pPr marL="0" lvl="0" indent="0" algn="l">
              <a:lnSpc>
                <a:spcPts val="3441"/>
              </a:lnSpc>
              <a:spcBef>
                <a:spcPct val="0"/>
              </a:spcBef>
            </a:pPr>
            <a:r>
              <a:rPr lang="en-US" sz="2458">
                <a:solidFill>
                  <a:srgbClr val="FCFCFC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• Final debugging and refinement</a:t>
            </a:r>
          </a:p>
        </p:txBody>
      </p:sp>
      <p:sp>
        <p:nvSpPr>
          <p:cNvPr id="33" name="AutoShape 33"/>
          <p:cNvSpPr/>
          <p:nvPr/>
        </p:nvSpPr>
        <p:spPr>
          <a:xfrm>
            <a:off x="3912487" y="5523534"/>
            <a:ext cx="0" cy="4522588"/>
          </a:xfrm>
          <a:prstGeom prst="line">
            <a:avLst/>
          </a:prstGeom>
          <a:ln w="76200" cap="flat">
            <a:solidFill>
              <a:srgbClr val="00143D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4" name="AutoShape 34"/>
          <p:cNvSpPr/>
          <p:nvPr/>
        </p:nvSpPr>
        <p:spPr>
          <a:xfrm>
            <a:off x="7700446" y="5523534"/>
            <a:ext cx="0" cy="4522588"/>
          </a:xfrm>
          <a:prstGeom prst="line">
            <a:avLst/>
          </a:prstGeom>
          <a:ln w="76200" cap="flat">
            <a:solidFill>
              <a:srgbClr val="00143D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5" name="AutoShape 35"/>
          <p:cNvSpPr/>
          <p:nvPr/>
        </p:nvSpPr>
        <p:spPr>
          <a:xfrm>
            <a:off x="11299642" y="5523534"/>
            <a:ext cx="0" cy="4522588"/>
          </a:xfrm>
          <a:prstGeom prst="line">
            <a:avLst/>
          </a:prstGeom>
          <a:ln w="76200" cap="flat">
            <a:solidFill>
              <a:srgbClr val="00143D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6" name="AutoShape 36"/>
          <p:cNvSpPr/>
          <p:nvPr/>
        </p:nvSpPr>
        <p:spPr>
          <a:xfrm>
            <a:off x="14740253" y="5623483"/>
            <a:ext cx="0" cy="4522588"/>
          </a:xfrm>
          <a:prstGeom prst="line">
            <a:avLst/>
          </a:prstGeom>
          <a:ln w="76200" cap="flat">
            <a:solidFill>
              <a:srgbClr val="00143D"/>
            </a:solidFill>
            <a:prstDash val="solid"/>
            <a:headEnd type="none" w="sm" len="sm"/>
            <a:tailEnd type="none" w="sm" len="sm"/>
          </a:ln>
        </p:spPr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835</Words>
  <Application>Microsoft Office PowerPoint</Application>
  <PresentationFormat>Custom</PresentationFormat>
  <Paragraphs>146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Atkinson Hyperlegible</vt:lpstr>
      <vt:lpstr>Arial</vt:lpstr>
      <vt:lpstr>Atkinson Hyperlegible Bold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Muhammad Zaid</cp:lastModifiedBy>
  <cp:revision>33</cp:revision>
  <dcterms:created xsi:type="dcterms:W3CDTF">2006-08-16T00:00:00Z</dcterms:created>
  <dcterms:modified xsi:type="dcterms:W3CDTF">2025-11-29T17:44:46Z</dcterms:modified>
  <dc:identifier>DAG6A1lin_E</dc:identifier>
</cp:coreProperties>
</file>